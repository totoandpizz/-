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8"/>
    <p:restoredTop sz="94610"/>
  </p:normalViewPr>
  <p:slideViewPr>
    <p:cSldViewPr snapToGrid="0" snapToObjects="1">
      <p:cViewPr>
        <p:scale>
          <a:sx n="93" d="100"/>
          <a:sy n="93" d="100"/>
        </p:scale>
        <p:origin x="14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05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4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aa563f3761172d4adc298f0c43b88f6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2805" y="761695"/>
            <a:ext cx="16383305" cy="9144"/>
          </a:xfrm>
          <a:prstGeom prst="rect">
            <a:avLst/>
          </a:prstGeom>
        </p:spPr>
      </p:pic>
      <p:pic>
        <p:nvPicPr>
          <p:cNvPr id="3" name="Image 1" descr="gen-dedup-0027c3c5f3cae63b5ca1e3146ac43493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952805" y="3191256"/>
            <a:ext cx="761695" cy="19202"/>
          </a:xfrm>
          <a:prstGeom prst="rect">
            <a:avLst/>
          </a:prstGeom>
        </p:spPr>
      </p:pic>
      <p:pic>
        <p:nvPicPr>
          <p:cNvPr id="4" name="Image 2" descr="gen-dedup-3e10247d4b8589a02f97565b9c1ac944.png"/>
          <p:cNvPicPr>
            <a:picLocks noChangeAspect="1"/>
          </p:cNvPicPr>
          <p:nvPr/>
        </p:nvPicPr>
        <p:blipFill>
          <a:blip r:embed="rId5"/>
          <a:srcRect t="-2083" b="-2083"/>
          <a:stretch/>
        </p:blipFill>
        <p:spPr>
          <a:xfrm>
            <a:off x="10096805" y="3476549"/>
            <a:ext cx="9144" cy="5619902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0573207" y="7524598"/>
            <a:ext cx="6762902" cy="1571854"/>
          </a:xfrm>
          <a:prstGeom prst="rect">
            <a:avLst/>
          </a:prstGeom>
          <a:solidFill>
            <a:srgbClr val="4A2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3" descr="gen-dedup-332d4bd6ac51c0654c229e1e739141ae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952805" y="9810598"/>
            <a:ext cx="16383305" cy="9144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952805" y="952805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01 / 프로젝트 개요</a:t>
            </a:r>
            <a:endParaRPr lang="en-US" sz="1200" dirty="0"/>
          </a:p>
        </p:txBody>
      </p:sp>
      <p:sp>
        <p:nvSpPr>
          <p:cNvPr id="8" name="Text 2"/>
          <p:cNvSpPr txBox="1"/>
          <p:nvPr/>
        </p:nvSpPr>
        <p:spPr>
          <a:xfrm>
            <a:off x="952805" y="1181405"/>
            <a:ext cx="85725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kern="0" spc="135" dirty="0">
                <a:solidFill>
                  <a:srgbClr val="C9C4BD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PROJECT OVERVIEW</a:t>
            </a:r>
            <a:endParaRPr lang="en-US" sz="800" dirty="0"/>
          </a:p>
        </p:txBody>
      </p:sp>
      <p:sp>
        <p:nvSpPr>
          <p:cNvPr id="9" name="Text 3"/>
          <p:cNvSpPr txBox="1"/>
          <p:nvPr/>
        </p:nvSpPr>
        <p:spPr>
          <a:xfrm>
            <a:off x="13525805" y="952805"/>
            <a:ext cx="3810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98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HISBEANS · STORE MINI APP PLAN</a:t>
            </a:r>
            <a:endParaRPr lang="en-US" sz="900" dirty="0"/>
          </a:p>
        </p:txBody>
      </p:sp>
      <p:sp>
        <p:nvSpPr>
          <p:cNvPr id="10" name="Text 4"/>
          <p:cNvSpPr txBox="1"/>
          <p:nvPr/>
        </p:nvSpPr>
        <p:spPr>
          <a:xfrm>
            <a:off x="952805" y="1714500"/>
            <a:ext cx="14287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이 프로젝트를 한 문장으로 요약한다면?</a:t>
            </a:r>
            <a:endParaRPr lang="en-US" sz="1125" dirty="0"/>
          </a:p>
        </p:txBody>
      </p:sp>
      <p:sp>
        <p:nvSpPr>
          <p:cNvPr id="11" name="Text 5"/>
          <p:cNvSpPr txBox="1"/>
          <p:nvPr/>
        </p:nvSpPr>
        <p:spPr>
          <a:xfrm>
            <a:off x="952805" y="2018995"/>
            <a:ext cx="142875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공간에 </a:t>
            </a:r>
            <a:r>
              <a:rPr lang="en-US" sz="3000" b="1" kern="0" spc="-75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‘말할 수 있는 입’</a:t>
            </a:r>
            <a:r>
              <a:rPr lang="en-US" sz="3000" b="1" kern="0" spc="-75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을 붙여, 서사를 리뷰·재방문으로 바꾼다</a:t>
            </a:r>
            <a:endParaRPr lang="en-US" sz="3000" dirty="0"/>
          </a:p>
        </p:txBody>
      </p:sp>
      <p:sp>
        <p:nvSpPr>
          <p:cNvPr id="12" name="Text 6"/>
          <p:cNvSpPr txBox="1"/>
          <p:nvPr/>
        </p:nvSpPr>
        <p:spPr>
          <a:xfrm>
            <a:off x="952805" y="3476549"/>
            <a:ext cx="8572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0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프로젝트 목적</a:t>
            </a:r>
            <a:endParaRPr lang="en-US" sz="975" dirty="0"/>
          </a:p>
        </p:txBody>
      </p:sp>
      <p:sp>
        <p:nvSpPr>
          <p:cNvPr id="13" name="Text 7"/>
          <p:cNvSpPr txBox="1"/>
          <p:nvPr/>
        </p:nvSpPr>
        <p:spPr>
          <a:xfrm>
            <a:off x="952805" y="3648456"/>
            <a:ext cx="8572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8A8A8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왜 이 프로젝트를 해야 하나요?</a:t>
            </a:r>
            <a:endParaRPr lang="en-US" sz="975" dirty="0"/>
          </a:p>
        </p:txBody>
      </p:sp>
      <p:sp>
        <p:nvSpPr>
          <p:cNvPr id="14" name="Text 8"/>
          <p:cNvSpPr txBox="1"/>
          <p:nvPr/>
        </p:nvSpPr>
        <p:spPr>
          <a:xfrm>
            <a:off x="952805" y="3834079"/>
            <a:ext cx="8572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-7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히즈빈스의 가장 강한 자산(사람·서사)이 정작 매장 안, 고객이 앉아 있는 순간에는 전달되지 않습니다.</a:t>
            </a:r>
            <a:endParaRPr lang="en-US" sz="1350" dirty="0"/>
          </a:p>
        </p:txBody>
      </p:sp>
      <p:sp>
        <p:nvSpPr>
          <p:cNvPr id="15" name="Text 9"/>
          <p:cNvSpPr txBox="1"/>
          <p:nvPr/>
        </p:nvSpPr>
        <p:spPr>
          <a:xfrm>
            <a:off x="952805" y="5048402"/>
            <a:ext cx="8572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0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추진 배경</a:t>
            </a:r>
            <a:endParaRPr lang="en-US" sz="975" dirty="0"/>
          </a:p>
        </p:txBody>
      </p:sp>
      <p:sp>
        <p:nvSpPr>
          <p:cNvPr id="16" name="Text 10"/>
          <p:cNvSpPr txBox="1"/>
          <p:nvPr/>
        </p:nvSpPr>
        <p:spPr>
          <a:xfrm>
            <a:off x="952805" y="5219395"/>
            <a:ext cx="8572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8A8A8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지금 이 프로젝트가 필요한 이유는 무엇인가요?</a:t>
            </a:r>
            <a:endParaRPr lang="en-US" sz="975" dirty="0"/>
          </a:p>
        </p:txBody>
      </p:sp>
      <p:sp>
        <p:nvSpPr>
          <p:cNvPr id="17" name="Text 11"/>
          <p:cNvSpPr txBox="1"/>
          <p:nvPr/>
        </p:nvSpPr>
        <p:spPr>
          <a:xfrm>
            <a:off x="914095" y="5449824"/>
            <a:ext cx="8611210" cy="871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국내 카페는 효율형(디지털 강·서사 약)과 경험형(서사 강·디지털 약)으로 양극화 — 두 축을 모두 갖춘 자리가 비어 있음</a:t>
            </a:r>
            <a:endParaRPr lang="en-US" sz="1200" dirty="0"/>
          </a:p>
          <a:p>
            <a:pPr marL="190500" indent="-190500" algn="l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바리스타 근속 5~6년·1인당 지지자 7인·아카데미 7단계 — 복제 불가능한 서사를 이미 보유</a:t>
            </a:r>
            <a:endParaRPr lang="en-US" sz="1200" dirty="0"/>
          </a:p>
          <a:p>
            <a:pPr marL="190500" indent="-190500" algn="l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현재 서사는 뉴스·웹사이트 등 ‘방문 전’ 채널에만 존재 — 매장 안 고객에게 히즈빈스는 그냥 ‘커피집’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952805" y="7334402"/>
            <a:ext cx="8572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0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핵심 과제 </a:t>
            </a:r>
            <a:r>
              <a:rPr lang="en-US" sz="975" b="1" kern="0" spc="20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(최대 3개)</a:t>
            </a:r>
            <a:endParaRPr lang="en-US" sz="975" dirty="0"/>
          </a:p>
        </p:txBody>
      </p:sp>
      <p:sp>
        <p:nvSpPr>
          <p:cNvPr id="19" name="Text 13"/>
          <p:cNvSpPr txBox="1"/>
          <p:nvPr/>
        </p:nvSpPr>
        <p:spPr>
          <a:xfrm>
            <a:off x="952805" y="7505395"/>
            <a:ext cx="8572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8A8A8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반드시 해결해야 할 문제는 무엇인가요?</a:t>
            </a:r>
            <a:endParaRPr lang="en-US" sz="975" dirty="0"/>
          </a:p>
        </p:txBody>
      </p:sp>
      <p:sp>
        <p:nvSpPr>
          <p:cNvPr id="20" name="Shape 14"/>
          <p:cNvSpPr/>
          <p:nvPr/>
        </p:nvSpPr>
        <p:spPr>
          <a:xfrm>
            <a:off x="952805" y="7800746"/>
            <a:ext cx="2734056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 txBox="1"/>
          <p:nvPr/>
        </p:nvSpPr>
        <p:spPr>
          <a:xfrm>
            <a:off x="952805" y="7934249"/>
            <a:ext cx="273405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01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952805" y="8143646"/>
            <a:ext cx="27340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‘방문 중’ 서사 전달 매체 확보</a:t>
            </a:r>
            <a:endParaRPr lang="en-US" sz="1125" dirty="0"/>
          </a:p>
        </p:txBody>
      </p:sp>
      <p:sp>
        <p:nvSpPr>
          <p:cNvPr id="23" name="Shape 17"/>
          <p:cNvSpPr/>
          <p:nvPr/>
        </p:nvSpPr>
        <p:spPr>
          <a:xfrm>
            <a:off x="3873398" y="7800746"/>
            <a:ext cx="2734056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8"/>
          <p:cNvSpPr txBox="1"/>
          <p:nvPr/>
        </p:nvSpPr>
        <p:spPr>
          <a:xfrm>
            <a:off x="3873398" y="7934249"/>
            <a:ext cx="273405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02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3873398" y="8143646"/>
            <a:ext cx="27340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QR 한 번, 30초 리뷰 + 즉시 보상</a:t>
            </a:r>
            <a:endParaRPr lang="en-US" sz="1125" dirty="0"/>
          </a:p>
        </p:txBody>
      </p:sp>
      <p:sp>
        <p:nvSpPr>
          <p:cNvPr id="26" name="Shape 20"/>
          <p:cNvSpPr/>
          <p:nvPr/>
        </p:nvSpPr>
        <p:spPr>
          <a:xfrm>
            <a:off x="6794906" y="7800746"/>
            <a:ext cx="2734056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1"/>
          <p:cNvSpPr txBox="1"/>
          <p:nvPr/>
        </p:nvSpPr>
        <p:spPr>
          <a:xfrm>
            <a:off x="6794906" y="7934249"/>
            <a:ext cx="273405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03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6794906" y="8143646"/>
            <a:ext cx="27340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직영 2개점 4주 파일럿으로 효과 검증</a:t>
            </a:r>
            <a:endParaRPr lang="en-US" sz="1125" dirty="0"/>
          </a:p>
        </p:txBody>
      </p:sp>
      <p:sp>
        <p:nvSpPr>
          <p:cNvPr id="29" name="Text 23"/>
          <p:cNvSpPr txBox="1"/>
          <p:nvPr/>
        </p:nvSpPr>
        <p:spPr>
          <a:xfrm>
            <a:off x="10573207" y="3476549"/>
            <a:ext cx="67629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0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프로젝트 기본정보</a:t>
            </a:r>
            <a:endParaRPr lang="en-US" sz="975" dirty="0"/>
          </a:p>
        </p:txBody>
      </p:sp>
      <p:sp>
        <p:nvSpPr>
          <p:cNvPr id="30" name="Text 24"/>
          <p:cNvSpPr txBox="1"/>
          <p:nvPr/>
        </p:nvSpPr>
        <p:spPr>
          <a:xfrm>
            <a:off x="10573207" y="3648456"/>
            <a:ext cx="67629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8A8A8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기본 사실 6가지를 채우세요</a:t>
            </a:r>
            <a:endParaRPr lang="en-US" sz="975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325864"/>
              </p:ext>
            </p:extLst>
          </p:nvPr>
        </p:nvGraphicFramePr>
        <p:xfrm>
          <a:off x="10573207" y="3952951"/>
          <a:ext cx="6762903" cy="2781606"/>
        </p:xfrm>
        <a:graphic>
          <a:graphicData uri="http://schemas.openxmlformats.org/drawingml/2006/table">
            <a:tbl>
              <a:tblPr/>
              <a:tblGrid>
                <a:gridCol w="2164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8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36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A8A8A"/>
                          </a:solidFill>
                          <a:latin typeface="Pretendard Variable Black" pitchFamily="34" charset="0"/>
                          <a:ea typeface="Pretendard Variable Black" pitchFamily="34" charset="-122"/>
                          <a:cs typeface="Pretendard Variable Black" pitchFamily="34" charset="-120"/>
                        </a:rPr>
                        <a:t>프로젝트명</a:t>
                      </a:r>
                      <a:endParaRPr lang="en-US" sz="90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23444" marB="123444">
                    <a:lnL w="0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8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매장 미니앱 (Phygital Layer) 파일럿</a:t>
                      </a:r>
                      <a:endParaRPr lang="en-US" sz="1088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23444" marB="123444">
                    <a:lnL w="0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6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A8A8A"/>
                          </a:solidFill>
                          <a:latin typeface="Pretendard Variable Black" pitchFamily="34" charset="0"/>
                          <a:ea typeface="Pretendard Variable Black" pitchFamily="34" charset="-122"/>
                          <a:cs typeface="Pretendard Variable Black" pitchFamily="34" charset="-120"/>
                        </a:rPr>
                        <a:t>PM</a:t>
                      </a:r>
                      <a:endParaRPr lang="en-US" sz="90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23444" marB="123444">
                    <a:lnL w="0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8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[이름] / 미니앱 기획 담당</a:t>
                      </a:r>
                      <a:endParaRPr lang="en-US" sz="1088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23444" marB="123444">
                    <a:lnL w="0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6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A8A8A"/>
                          </a:solidFill>
                          <a:latin typeface="Pretendard Variable Black" pitchFamily="34" charset="0"/>
                          <a:ea typeface="Pretendard Variable Black" pitchFamily="34" charset="-122"/>
                          <a:cs typeface="Pretendard Variable Black" pitchFamily="34" charset="-120"/>
                        </a:rPr>
                        <a:t>의사결정 책임자</a:t>
                      </a:r>
                      <a:endParaRPr lang="en-US" sz="90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23444" marB="123444">
                    <a:lnL w="0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8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리더십 (대표)</a:t>
                      </a:r>
                      <a:endParaRPr lang="en-US" sz="1088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23444" marB="123444">
                    <a:lnL w="0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6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A8A8A"/>
                          </a:solidFill>
                          <a:latin typeface="Pretendard Variable Black" pitchFamily="34" charset="0"/>
                          <a:ea typeface="Pretendard Variable Black" pitchFamily="34" charset="-122"/>
                          <a:cs typeface="Pretendard Variable Black" pitchFamily="34" charset="-120"/>
                        </a:rPr>
                        <a:t>프로젝트 기간</a:t>
                      </a:r>
                      <a:endParaRPr lang="en-US" sz="90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23444" marB="123444">
                    <a:lnL w="0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8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2026. 11 – 2026. 12 </a:t>
                      </a:r>
                      <a:r>
                        <a:rPr lang="en-US" sz="1088" dirty="0">
                          <a:solidFill>
                            <a:srgbClr val="4A2F1F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(2개월 / 8주)</a:t>
                      </a:r>
                      <a:endParaRPr lang="en-US" sz="1200" dirty="0"/>
                    </a:p>
                  </a:txBody>
                  <a:tcPr marL="133502" marR="133502" marT="123444" marB="123444">
                    <a:lnL w="0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6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A8A8A"/>
                          </a:solidFill>
                          <a:latin typeface="Pretendard Variable Black" pitchFamily="34" charset="0"/>
                          <a:ea typeface="Pretendard Variable Black" pitchFamily="34" charset="-122"/>
                          <a:cs typeface="Pretendard Variable Black" pitchFamily="34" charset="-120"/>
                        </a:rPr>
                        <a:t>적용 대상</a:t>
                      </a:r>
                      <a:endParaRPr lang="en-US" sz="90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23444" marB="123444">
                    <a:lnL w="0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8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직영 2개점 (명동점 · 서울시청점) 방문 고객</a:t>
                      </a:r>
                      <a:endParaRPr lang="en-US" sz="1088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23444" marB="123444">
                    <a:lnL w="0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6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A8A8A"/>
                          </a:solidFill>
                          <a:latin typeface="Pretendard Variable Black" pitchFamily="34" charset="0"/>
                          <a:ea typeface="Pretendard Variable Black" pitchFamily="34" charset="-122"/>
                          <a:cs typeface="Pretendard Variable Black" pitchFamily="34" charset="-120"/>
                        </a:rPr>
                        <a:t>참여 부서</a:t>
                      </a:r>
                      <a:endParaRPr lang="en-US" sz="90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23444" marB="123444">
                    <a:lnL w="0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8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기획, 직영 매장운영, 브랜드·콘텐츠, 개발, 운영·재무</a:t>
                      </a:r>
                      <a:endParaRPr lang="en-US" sz="1088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23444" marB="123444">
                    <a:lnL w="0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" name="Text 25"/>
          <p:cNvSpPr txBox="1"/>
          <p:nvPr/>
        </p:nvSpPr>
        <p:spPr>
          <a:xfrm>
            <a:off x="10858500" y="7715707"/>
            <a:ext cx="6286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6" dirty="0">
                <a:solidFill>
                  <a:srgbClr val="EFE6DE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성공의 정의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10858500" y="7877556"/>
            <a:ext cx="6286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FE6DE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이 프로젝트가 성공했다면 어떤 상태가 되어 있어야 하나요?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10858500" y="8112557"/>
            <a:ext cx="6286500" cy="660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b="1" kern="0" spc="-16" dirty="0">
                <a:solidFill>
                  <a:srgbClr val="FFFFF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매장 안 고객이 ‘이 커피를 내린 사람’을 알고,</a:t>
            </a:r>
            <a:endParaRPr lang="en-US" sz="1650" dirty="0"/>
          </a:p>
          <a:p>
            <a:pPr marL="0" indent="0" algn="l">
              <a:lnSpc>
                <a:spcPts val="2475"/>
              </a:lnSpc>
              <a:buNone/>
            </a:pPr>
            <a:r>
              <a:rPr lang="en-US" sz="1650" b="1" kern="0" spc="-16" dirty="0">
                <a:solidFill>
                  <a:srgbClr val="FFFFF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리뷰와 재방문으로 응답하는 상태</a:t>
            </a:r>
            <a:endParaRPr lang="en-US" sz="1650" dirty="0"/>
          </a:p>
        </p:txBody>
      </p:sp>
      <p:sp>
        <p:nvSpPr>
          <p:cNvPr id="35" name="Text 28"/>
          <p:cNvSpPr txBox="1"/>
          <p:nvPr/>
        </p:nvSpPr>
        <p:spPr>
          <a:xfrm>
            <a:off x="952805" y="9982505"/>
            <a:ext cx="857250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HISBEANS / 매장 미니앱 기획서</a:t>
            </a:r>
            <a:endParaRPr lang="en-US" sz="825" dirty="0"/>
          </a:p>
        </p:txBody>
      </p:sp>
      <p:sp>
        <p:nvSpPr>
          <p:cNvPr id="36" name="Text 29"/>
          <p:cNvSpPr txBox="1"/>
          <p:nvPr/>
        </p:nvSpPr>
        <p:spPr>
          <a:xfrm>
            <a:off x="15430500" y="9982505"/>
            <a:ext cx="190561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825" kern="0" spc="83" dirty="0">
                <a:solidFill>
                  <a:srgbClr val="8A8A8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01 / 08</a:t>
            </a:r>
            <a:endParaRPr lang="en-US" sz="825" dirty="0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49C487CC-B081-EBA3-F517-5A417EA6CC33}"/>
              </a:ext>
            </a:extLst>
          </p:cNvPr>
          <p:cNvSpPr txBox="1"/>
          <p:nvPr/>
        </p:nvSpPr>
        <p:spPr>
          <a:xfrm>
            <a:off x="933450" y="4091940"/>
            <a:ext cx="8572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-7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설치 없는 QR 기반 디지털 레이어로 서사를 ‘방문 중’에 전달하고, 리뷰·재방문이라는 측정 가능한 행동으로 전환합니다.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aa563f3761172d4adc298f0c43b88f6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2805" y="761695"/>
            <a:ext cx="16383305" cy="9144"/>
          </a:xfrm>
          <a:prstGeom prst="rect">
            <a:avLst/>
          </a:prstGeom>
        </p:spPr>
      </p:pic>
      <p:pic>
        <p:nvPicPr>
          <p:cNvPr id="3" name="Image 1" descr="gen-dedup-0027c3c5f3cae63b5ca1e3146ac43493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952805" y="2809951"/>
            <a:ext cx="761695" cy="1920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52805" y="3095244"/>
            <a:ext cx="16383305" cy="1238098"/>
          </a:xfrm>
          <a:prstGeom prst="rect">
            <a:avLst/>
          </a:prstGeom>
          <a:solidFill>
            <a:srgbClr val="FAF8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1"/>
          <p:cNvSpPr/>
          <p:nvPr/>
        </p:nvSpPr>
        <p:spPr>
          <a:xfrm>
            <a:off x="952805" y="5333695"/>
            <a:ext cx="3857854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/>
          <p:cNvSpPr/>
          <p:nvPr/>
        </p:nvSpPr>
        <p:spPr>
          <a:xfrm>
            <a:off x="5000854" y="5333695"/>
            <a:ext cx="3857854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9048902" y="5333695"/>
            <a:ext cx="3857854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13096951" y="5333695"/>
            <a:ext cx="4238244" cy="3429000"/>
          </a:xfrm>
          <a:prstGeom prst="rect">
            <a:avLst/>
          </a:prstGeom>
          <a:solidFill>
            <a:srgbClr val="4A2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332d4bd6ac51c0654c229e1e739141ae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952805" y="9810598"/>
            <a:ext cx="16383305" cy="9144"/>
          </a:xfrm>
          <a:prstGeom prst="rect">
            <a:avLst/>
          </a:prstGeom>
        </p:spPr>
      </p:pic>
      <p:pic>
        <p:nvPicPr>
          <p:cNvPr id="10" name="Image 3" descr="gen-dedup-1fcbc3d58da1bc10e0ee911ad91c3146.png"/>
          <p:cNvPicPr>
            <a:picLocks noChangeAspect="1"/>
          </p:cNvPicPr>
          <p:nvPr/>
        </p:nvPicPr>
        <p:blipFill>
          <a:blip r:embed="rId6"/>
          <a:srcRect t="-2072" b="-2072"/>
          <a:stretch/>
        </p:blipFill>
        <p:spPr>
          <a:xfrm>
            <a:off x="4190695" y="3381451"/>
            <a:ext cx="9144" cy="666598"/>
          </a:xfrm>
          <a:prstGeom prst="rect">
            <a:avLst/>
          </a:prstGeom>
        </p:spPr>
      </p:pic>
      <p:pic>
        <p:nvPicPr>
          <p:cNvPr id="11" name="Image 4" descr="gen-dedup-856400bfc5250c74cf832c47c0f5d325.png"/>
          <p:cNvPicPr>
            <a:picLocks noChangeAspect="1"/>
          </p:cNvPicPr>
          <p:nvPr/>
        </p:nvPicPr>
        <p:blipFill>
          <a:blip r:embed="rId7"/>
          <a:srcRect t="-397" b="-397"/>
          <a:stretch/>
        </p:blipFill>
        <p:spPr>
          <a:xfrm>
            <a:off x="952805" y="5333695"/>
            <a:ext cx="3857854" cy="38405"/>
          </a:xfrm>
          <a:prstGeom prst="rect">
            <a:avLst/>
          </a:prstGeom>
        </p:spPr>
      </p:pic>
      <p:pic>
        <p:nvPicPr>
          <p:cNvPr id="12" name="Image 5" descr="gen-dedup-856400bfc5250c74cf832c47c0f5d325.png"/>
          <p:cNvPicPr>
            <a:picLocks noChangeAspect="1"/>
          </p:cNvPicPr>
          <p:nvPr/>
        </p:nvPicPr>
        <p:blipFill>
          <a:blip r:embed="rId7"/>
          <a:srcRect t="-397" b="-397"/>
          <a:stretch/>
        </p:blipFill>
        <p:spPr>
          <a:xfrm>
            <a:off x="5000854" y="5333695"/>
            <a:ext cx="3857854" cy="38405"/>
          </a:xfrm>
          <a:prstGeom prst="rect">
            <a:avLst/>
          </a:prstGeom>
        </p:spPr>
      </p:pic>
      <p:pic>
        <p:nvPicPr>
          <p:cNvPr id="13" name="Image 6" descr="gen-dedup-856400bfc5250c74cf832c47c0f5d325.png"/>
          <p:cNvPicPr>
            <a:picLocks noChangeAspect="1"/>
          </p:cNvPicPr>
          <p:nvPr/>
        </p:nvPicPr>
        <p:blipFill>
          <a:blip r:embed="rId7"/>
          <a:srcRect t="-397" b="-397"/>
          <a:stretch/>
        </p:blipFill>
        <p:spPr>
          <a:xfrm>
            <a:off x="9048902" y="5333695"/>
            <a:ext cx="3857854" cy="38405"/>
          </a:xfrm>
          <a:prstGeom prst="rect">
            <a:avLst/>
          </a:prstGeom>
        </p:spPr>
      </p:pic>
      <p:sp>
        <p:nvSpPr>
          <p:cNvPr id="14" name="Text 5"/>
          <p:cNvSpPr txBox="1"/>
          <p:nvPr/>
        </p:nvSpPr>
        <p:spPr>
          <a:xfrm>
            <a:off x="952805" y="952805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02 / 목표 및 핵심 성과지표</a:t>
            </a:r>
            <a:endParaRPr lang="en-US" sz="1200" dirty="0"/>
          </a:p>
        </p:txBody>
      </p:sp>
      <p:sp>
        <p:nvSpPr>
          <p:cNvPr id="15" name="Text 6"/>
          <p:cNvSpPr txBox="1"/>
          <p:nvPr/>
        </p:nvSpPr>
        <p:spPr>
          <a:xfrm>
            <a:off x="952805" y="1181405"/>
            <a:ext cx="85725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kern="0" spc="135" dirty="0">
                <a:solidFill>
                  <a:srgbClr val="C9C4BD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OBJECTIVES &amp; KPI</a:t>
            </a:r>
            <a:endParaRPr lang="en-US" sz="800" dirty="0"/>
          </a:p>
        </p:txBody>
      </p:sp>
      <p:sp>
        <p:nvSpPr>
          <p:cNvPr id="16" name="Text 7"/>
          <p:cNvSpPr txBox="1"/>
          <p:nvPr/>
        </p:nvSpPr>
        <p:spPr>
          <a:xfrm>
            <a:off x="13525805" y="952805"/>
            <a:ext cx="3810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98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HISBEANS · STORE MINI APP PLAN</a:t>
            </a:r>
            <a:endParaRPr lang="en-US" sz="900" dirty="0"/>
          </a:p>
        </p:txBody>
      </p:sp>
      <p:sp>
        <p:nvSpPr>
          <p:cNvPr id="17" name="Text 8"/>
          <p:cNvSpPr txBox="1"/>
          <p:nvPr/>
        </p:nvSpPr>
        <p:spPr>
          <a:xfrm>
            <a:off x="952805" y="1714500"/>
            <a:ext cx="16383305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2개월 후 </a:t>
            </a:r>
            <a:r>
              <a:rPr lang="en-US" sz="3000" b="1" kern="0" spc="-75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서사가 행동으로 바뀌는지</a:t>
            </a:r>
            <a:r>
              <a:rPr lang="en-US" sz="3000" b="1" kern="0" spc="-75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 숫자로 증명합니다.</a:t>
            </a:r>
            <a:endParaRPr lang="en-US" sz="3000" dirty="0"/>
          </a:p>
        </p:txBody>
      </p:sp>
      <p:sp>
        <p:nvSpPr>
          <p:cNvPr id="18" name="Text 9"/>
          <p:cNvSpPr txBox="1"/>
          <p:nvPr/>
        </p:nvSpPr>
        <p:spPr>
          <a:xfrm>
            <a:off x="1333195" y="3286354"/>
            <a:ext cx="2667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0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최종 목표</a:t>
            </a:r>
            <a:endParaRPr lang="en-US" sz="975" dirty="0"/>
          </a:p>
        </p:txBody>
      </p:sp>
      <p:sp>
        <p:nvSpPr>
          <p:cNvPr id="19" name="Text 10"/>
          <p:cNvSpPr txBox="1"/>
          <p:nvPr/>
        </p:nvSpPr>
        <p:spPr>
          <a:xfrm>
            <a:off x="1333195" y="3467405"/>
            <a:ext cx="2667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한 문장으로 표현</a:t>
            </a:r>
            <a:endParaRPr lang="en-US" sz="900" dirty="0"/>
          </a:p>
        </p:txBody>
      </p:sp>
      <p:sp>
        <p:nvSpPr>
          <p:cNvPr id="20" name="Text 11"/>
          <p:cNvSpPr txBox="1"/>
          <p:nvPr/>
        </p:nvSpPr>
        <p:spPr>
          <a:xfrm>
            <a:off x="4524451" y="3381451"/>
            <a:ext cx="124779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kern="0" spc="-39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직영 2개점 4주 파일럿으로 ‘공간 서사 레이어’가 리뷰·재방문을 만든다는 것을 검증한다</a:t>
            </a:r>
            <a:endParaRPr lang="en-US" sz="1950" dirty="0"/>
          </a:p>
        </p:txBody>
      </p:sp>
      <p:sp>
        <p:nvSpPr>
          <p:cNvPr id="21" name="Text 12"/>
          <p:cNvSpPr txBox="1"/>
          <p:nvPr/>
        </p:nvSpPr>
        <p:spPr>
          <a:xfrm>
            <a:off x="952805" y="4667098"/>
            <a:ext cx="16383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0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핵심 목표 </a:t>
            </a:r>
            <a:r>
              <a:rPr lang="en-US" sz="975" b="1" kern="0" spc="20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×</a:t>
            </a:r>
            <a:r>
              <a:rPr lang="en-US" sz="975" b="1" kern="0" spc="20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 성과지표(KPI) </a:t>
            </a:r>
            <a:r>
              <a:rPr lang="en-US" sz="975" b="1" kern="0" spc="20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(최대 4개)</a:t>
            </a:r>
            <a:endParaRPr lang="en-US" sz="975" dirty="0"/>
          </a:p>
        </p:txBody>
      </p:sp>
      <p:sp>
        <p:nvSpPr>
          <p:cNvPr id="22" name="Text 13"/>
          <p:cNvSpPr txBox="1"/>
          <p:nvPr/>
        </p:nvSpPr>
        <p:spPr>
          <a:xfrm>
            <a:off x="952805" y="4839005"/>
            <a:ext cx="16383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8A8A8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각 목표마다 반드시 측정 가능한 KPI 1개를 연결하세요.</a:t>
            </a:r>
            <a:endParaRPr lang="en-US" sz="975" dirty="0"/>
          </a:p>
        </p:txBody>
      </p:sp>
      <p:sp>
        <p:nvSpPr>
          <p:cNvPr id="23" name="Text 14"/>
          <p:cNvSpPr txBox="1"/>
          <p:nvPr/>
        </p:nvSpPr>
        <p:spPr>
          <a:xfrm>
            <a:off x="1238098" y="5572354"/>
            <a:ext cx="3286354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01</a:t>
            </a:r>
            <a:endParaRPr lang="en-US" sz="900" dirty="0"/>
          </a:p>
        </p:txBody>
      </p:sp>
      <p:sp>
        <p:nvSpPr>
          <p:cNvPr id="24" name="Text 15"/>
          <p:cNvSpPr txBox="1"/>
          <p:nvPr/>
        </p:nvSpPr>
        <p:spPr>
          <a:xfrm>
            <a:off x="1238098" y="5857646"/>
            <a:ext cx="3286354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8A8A8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무엇을 달성하나요?</a:t>
            </a:r>
            <a:endParaRPr lang="en-US" sz="975" dirty="0"/>
          </a:p>
        </p:txBody>
      </p:sp>
      <p:sp>
        <p:nvSpPr>
          <p:cNvPr id="25" name="Text 16"/>
          <p:cNvSpPr txBox="1"/>
          <p:nvPr/>
        </p:nvSpPr>
        <p:spPr>
          <a:xfrm>
            <a:off x="1238098" y="6057900"/>
            <a:ext cx="3286354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kern="0" spc="-25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진입장벽 제거</a:t>
            </a:r>
            <a:endParaRPr lang="en-US" sz="16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650" b="1" kern="0" spc="-25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설치 없이 QR로</a:t>
            </a:r>
            <a:endParaRPr lang="en-US" sz="16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650" b="1" kern="0" spc="-25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바로 참여</a:t>
            </a:r>
            <a:endParaRPr lang="en-US" sz="1650" dirty="0"/>
          </a:p>
        </p:txBody>
      </p:sp>
      <p:pic>
        <p:nvPicPr>
          <p:cNvPr id="26" name="Image 7" descr="gen-dedup-79fdf184435d6bf2f019db800418189c.png"/>
          <p:cNvPicPr>
            <a:picLocks noChangeAspect="1"/>
          </p:cNvPicPr>
          <p:nvPr/>
        </p:nvPicPr>
        <p:blipFill>
          <a:blip r:embed="rId8"/>
          <a:srcRect l="-2029" r="-2029"/>
          <a:stretch/>
        </p:blipFill>
        <p:spPr>
          <a:xfrm>
            <a:off x="1238098" y="7077456"/>
            <a:ext cx="304495" cy="9144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1238098" y="7220102"/>
            <a:ext cx="3286354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50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KPI</a:t>
            </a:r>
            <a:endParaRPr lang="en-US" sz="825" dirty="0"/>
          </a:p>
        </p:txBody>
      </p:sp>
      <p:sp>
        <p:nvSpPr>
          <p:cNvPr id="28" name="Text 18"/>
          <p:cNvSpPr txBox="1"/>
          <p:nvPr/>
        </p:nvSpPr>
        <p:spPr>
          <a:xfrm>
            <a:off x="1238098" y="7382866"/>
            <a:ext cx="32863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kern="0" spc="-15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방문객 대비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b="1" kern="0" spc="-15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QR 스캔률 8%↑</a:t>
            </a:r>
            <a:endParaRPr lang="en-US" sz="1500" dirty="0"/>
          </a:p>
        </p:txBody>
      </p:sp>
      <p:sp>
        <p:nvSpPr>
          <p:cNvPr id="29" name="Text 19"/>
          <p:cNvSpPr txBox="1"/>
          <p:nvPr/>
        </p:nvSpPr>
        <p:spPr>
          <a:xfrm>
            <a:off x="5286146" y="5572354"/>
            <a:ext cx="3286354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02</a:t>
            </a:r>
            <a:endParaRPr lang="en-US" sz="900" dirty="0"/>
          </a:p>
        </p:txBody>
      </p:sp>
      <p:sp>
        <p:nvSpPr>
          <p:cNvPr id="30" name="Text 20"/>
          <p:cNvSpPr txBox="1"/>
          <p:nvPr/>
        </p:nvSpPr>
        <p:spPr>
          <a:xfrm>
            <a:off x="5286146" y="5857646"/>
            <a:ext cx="3286354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8A8A8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무엇을 달성하나요?</a:t>
            </a:r>
            <a:endParaRPr lang="en-US" sz="975" dirty="0"/>
          </a:p>
        </p:txBody>
      </p:sp>
      <p:sp>
        <p:nvSpPr>
          <p:cNvPr id="31" name="Text 21"/>
          <p:cNvSpPr txBox="1"/>
          <p:nvPr/>
        </p:nvSpPr>
        <p:spPr>
          <a:xfrm>
            <a:off x="5286146" y="6057900"/>
            <a:ext cx="3286354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kern="0" spc="-25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리뷰 효과</a:t>
            </a:r>
            <a:endParaRPr lang="en-US" sz="16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650" b="1" kern="0" spc="-25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30초 리뷰로</a:t>
            </a:r>
            <a:endParaRPr lang="en-US" sz="16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650" b="1" kern="0" spc="-25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매장 노출 확대</a:t>
            </a:r>
            <a:endParaRPr lang="en-US" sz="1650" dirty="0"/>
          </a:p>
        </p:txBody>
      </p:sp>
      <p:pic>
        <p:nvPicPr>
          <p:cNvPr id="32" name="Image 8" descr="gen-dedup-79fdf184435d6bf2f019db800418189c.png"/>
          <p:cNvPicPr>
            <a:picLocks noChangeAspect="1"/>
          </p:cNvPicPr>
          <p:nvPr/>
        </p:nvPicPr>
        <p:blipFill>
          <a:blip r:embed="rId8"/>
          <a:srcRect l="-2029" r="-2029"/>
          <a:stretch/>
        </p:blipFill>
        <p:spPr>
          <a:xfrm>
            <a:off x="5286146" y="7077456"/>
            <a:ext cx="304495" cy="9144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5286146" y="7220102"/>
            <a:ext cx="3286354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50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KPI</a:t>
            </a:r>
            <a:endParaRPr lang="en-US" sz="825" dirty="0"/>
          </a:p>
        </p:txBody>
      </p:sp>
      <p:sp>
        <p:nvSpPr>
          <p:cNvPr id="34" name="Text 23"/>
          <p:cNvSpPr txBox="1"/>
          <p:nvPr/>
        </p:nvSpPr>
        <p:spPr>
          <a:xfrm>
            <a:off x="5286146" y="7382866"/>
            <a:ext cx="32863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kern="0" spc="-15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매장별 주간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b="1" kern="0" spc="-15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리뷰 수 +30%</a:t>
            </a:r>
            <a:endParaRPr lang="en-US" sz="1500" dirty="0"/>
          </a:p>
        </p:txBody>
      </p:sp>
      <p:sp>
        <p:nvSpPr>
          <p:cNvPr id="35" name="Text 24"/>
          <p:cNvSpPr txBox="1"/>
          <p:nvPr/>
        </p:nvSpPr>
        <p:spPr>
          <a:xfrm>
            <a:off x="9334195" y="5572354"/>
            <a:ext cx="3286354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03</a:t>
            </a:r>
            <a:endParaRPr lang="en-US" sz="900" dirty="0"/>
          </a:p>
        </p:txBody>
      </p:sp>
      <p:sp>
        <p:nvSpPr>
          <p:cNvPr id="36" name="Text 25"/>
          <p:cNvSpPr txBox="1"/>
          <p:nvPr/>
        </p:nvSpPr>
        <p:spPr>
          <a:xfrm>
            <a:off x="9334195" y="5857646"/>
            <a:ext cx="3286354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8A8A8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무엇을 달성하나요?</a:t>
            </a:r>
            <a:endParaRPr lang="en-US" sz="975" dirty="0"/>
          </a:p>
        </p:txBody>
      </p:sp>
      <p:sp>
        <p:nvSpPr>
          <p:cNvPr id="37" name="Text 26"/>
          <p:cNvSpPr txBox="1"/>
          <p:nvPr/>
        </p:nvSpPr>
        <p:spPr>
          <a:xfrm>
            <a:off x="9334195" y="6057900"/>
            <a:ext cx="3286354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kern="0" spc="-25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보상 전환</a:t>
            </a:r>
            <a:endParaRPr lang="en-US" sz="16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650" b="1" kern="0" spc="-25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즉시 보상으로</a:t>
            </a:r>
            <a:endParaRPr lang="en-US" sz="16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650" b="1" kern="0" spc="-25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재방문 습관화</a:t>
            </a:r>
            <a:endParaRPr lang="en-US" sz="1650" dirty="0"/>
          </a:p>
        </p:txBody>
      </p:sp>
      <p:pic>
        <p:nvPicPr>
          <p:cNvPr id="38" name="Image 9" descr="gen-dedup-79fdf184435d6bf2f019db800418189c.png"/>
          <p:cNvPicPr>
            <a:picLocks noChangeAspect="1"/>
          </p:cNvPicPr>
          <p:nvPr/>
        </p:nvPicPr>
        <p:blipFill>
          <a:blip r:embed="rId8"/>
          <a:srcRect l="-2029" r="-2029"/>
          <a:stretch/>
        </p:blipFill>
        <p:spPr>
          <a:xfrm>
            <a:off x="9334195" y="7077456"/>
            <a:ext cx="304495" cy="9144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9334195" y="7220102"/>
            <a:ext cx="3286354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50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KPI</a:t>
            </a:r>
            <a:endParaRPr lang="en-US" sz="825" dirty="0"/>
          </a:p>
        </p:txBody>
      </p:sp>
      <p:sp>
        <p:nvSpPr>
          <p:cNvPr id="40" name="Text 28"/>
          <p:cNvSpPr txBox="1"/>
          <p:nvPr/>
        </p:nvSpPr>
        <p:spPr>
          <a:xfrm>
            <a:off x="9334195" y="7382866"/>
            <a:ext cx="32863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kern="0" spc="-15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재방문 쿠폰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b="1" kern="0" spc="-15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사용률 15%↑</a:t>
            </a:r>
            <a:endParaRPr lang="en-US" sz="1500" dirty="0"/>
          </a:p>
        </p:txBody>
      </p:sp>
      <p:sp>
        <p:nvSpPr>
          <p:cNvPr id="41" name="Text 29"/>
          <p:cNvSpPr txBox="1"/>
          <p:nvPr/>
        </p:nvSpPr>
        <p:spPr>
          <a:xfrm>
            <a:off x="13382244" y="5572354"/>
            <a:ext cx="3667658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" dirty="0">
                <a:solidFill>
                  <a:srgbClr val="EFE6DE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04</a:t>
            </a:r>
            <a:endParaRPr lang="en-US" sz="900" dirty="0"/>
          </a:p>
        </p:txBody>
      </p:sp>
      <p:sp>
        <p:nvSpPr>
          <p:cNvPr id="42" name="Text 30"/>
          <p:cNvSpPr txBox="1"/>
          <p:nvPr/>
        </p:nvSpPr>
        <p:spPr>
          <a:xfrm>
            <a:off x="13382244" y="5857646"/>
            <a:ext cx="3667658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EFE6DE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핵심 가설 · 무엇을 달성하나요?</a:t>
            </a:r>
            <a:endParaRPr lang="en-US" sz="975" dirty="0"/>
          </a:p>
        </p:txBody>
      </p:sp>
      <p:sp>
        <p:nvSpPr>
          <p:cNvPr id="43" name="Text 31"/>
          <p:cNvSpPr txBox="1"/>
          <p:nvPr/>
        </p:nvSpPr>
        <p:spPr>
          <a:xfrm>
            <a:off x="13382244" y="6057900"/>
            <a:ext cx="3667658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kern="0" spc="-25" dirty="0">
                <a:solidFill>
                  <a:srgbClr val="FFFFF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서사 전달</a:t>
            </a:r>
            <a:endParaRPr lang="en-US" sz="16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650" b="1" kern="0" spc="-25" dirty="0">
                <a:solidFill>
                  <a:srgbClr val="FFFFF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‘이 커피를 내린 사람’</a:t>
            </a:r>
            <a:endParaRPr lang="en-US" sz="16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650" b="1" kern="0" spc="-25" dirty="0">
                <a:solidFill>
                  <a:srgbClr val="FFFFF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이야기가 닿는다</a:t>
            </a:r>
            <a:endParaRPr lang="en-US" sz="1650" dirty="0"/>
          </a:p>
        </p:txBody>
      </p:sp>
      <p:pic>
        <p:nvPicPr>
          <p:cNvPr id="44" name="Image 10" descr="gen-dedup-792ce80f8f5a21ccb50908bcb3022d4e.png"/>
          <p:cNvPicPr>
            <a:picLocks noChangeAspect="1"/>
          </p:cNvPicPr>
          <p:nvPr/>
        </p:nvPicPr>
        <p:blipFill>
          <a:blip r:embed="rId9"/>
          <a:srcRect l="-2029" r="-2029"/>
          <a:stretch/>
        </p:blipFill>
        <p:spPr>
          <a:xfrm>
            <a:off x="13382244" y="7077456"/>
            <a:ext cx="304495" cy="9144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13382244" y="7220102"/>
            <a:ext cx="3667658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50" dirty="0">
                <a:solidFill>
                  <a:srgbClr val="EFE6DE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KPI</a:t>
            </a:r>
            <a:endParaRPr lang="en-US" sz="825" dirty="0"/>
          </a:p>
        </p:txBody>
      </p:sp>
      <p:sp>
        <p:nvSpPr>
          <p:cNvPr id="46" name="Text 33"/>
          <p:cNvSpPr txBox="1"/>
          <p:nvPr/>
        </p:nvSpPr>
        <p:spPr>
          <a:xfrm>
            <a:off x="13382244" y="7382866"/>
            <a:ext cx="366765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kern="0" spc="-15" dirty="0">
                <a:solidFill>
                  <a:srgbClr val="FFFFF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서사 카드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b="1" kern="0" spc="-15" dirty="0">
                <a:solidFill>
                  <a:srgbClr val="FFFFF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열람 완료율 40%↑</a:t>
            </a:r>
            <a:endParaRPr lang="en-US" sz="1500" dirty="0"/>
          </a:p>
        </p:txBody>
      </p:sp>
      <p:sp>
        <p:nvSpPr>
          <p:cNvPr id="47" name="Text 34"/>
          <p:cNvSpPr txBox="1"/>
          <p:nvPr/>
        </p:nvSpPr>
        <p:spPr>
          <a:xfrm>
            <a:off x="952805" y="9144000"/>
            <a:ext cx="16383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판단 기준 │ </a:t>
            </a:r>
            <a:r>
              <a:rPr lang="en-US" sz="900" b="1" kern="0" spc="9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A~C만 달성하면 ‘평범한 리뷰 앱’, 04 서사 전달까지 달성해야 ‘공간 서사 레이어’ 가설이 검증됩니다.</a:t>
            </a:r>
            <a:endParaRPr lang="en-US" sz="900" dirty="0"/>
          </a:p>
        </p:txBody>
      </p:sp>
      <p:sp>
        <p:nvSpPr>
          <p:cNvPr id="48" name="Text 35"/>
          <p:cNvSpPr txBox="1"/>
          <p:nvPr/>
        </p:nvSpPr>
        <p:spPr>
          <a:xfrm>
            <a:off x="952805" y="9982505"/>
            <a:ext cx="857250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HISBEANS / 매장 미니앱 기획서</a:t>
            </a:r>
            <a:endParaRPr lang="en-US" sz="825" dirty="0"/>
          </a:p>
        </p:txBody>
      </p:sp>
      <p:sp>
        <p:nvSpPr>
          <p:cNvPr id="49" name="Text 36"/>
          <p:cNvSpPr txBox="1"/>
          <p:nvPr/>
        </p:nvSpPr>
        <p:spPr>
          <a:xfrm>
            <a:off x="15430500" y="9982505"/>
            <a:ext cx="190561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825" kern="0" spc="83" dirty="0">
                <a:solidFill>
                  <a:srgbClr val="8A8A8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02 / 08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aa563f3761172d4adc298f0c43b88f6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2805" y="761695"/>
            <a:ext cx="16383305" cy="9144"/>
          </a:xfrm>
          <a:prstGeom prst="rect">
            <a:avLst/>
          </a:prstGeom>
        </p:spPr>
      </p:pic>
      <p:pic>
        <p:nvPicPr>
          <p:cNvPr id="3" name="Image 1" descr="gen-dedup-0027c3c5f3cae63b5ca1e3146ac43493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952805" y="2905049"/>
            <a:ext cx="761695" cy="1920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380744" y="7619695"/>
            <a:ext cx="2762402" cy="761695"/>
          </a:xfrm>
          <a:prstGeom prst="rect">
            <a:avLst/>
          </a:prstGeom>
          <a:solidFill>
            <a:srgbClr val="FAF8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1"/>
          <p:cNvSpPr/>
          <p:nvPr/>
        </p:nvSpPr>
        <p:spPr>
          <a:xfrm>
            <a:off x="1380744" y="7619695"/>
            <a:ext cx="2762402" cy="19202"/>
          </a:xfrm>
          <a:prstGeom prst="rect">
            <a:avLst/>
          </a:prstGeom>
          <a:solidFill>
            <a:srgbClr val="4A2F1F"/>
          </a:solidFill>
          <a:ln w="12700">
            <a:solidFill>
              <a:srgbClr val="4A2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/>
          <p:cNvSpPr/>
          <p:nvPr/>
        </p:nvSpPr>
        <p:spPr>
          <a:xfrm>
            <a:off x="4390949" y="7619695"/>
            <a:ext cx="2762402" cy="761695"/>
          </a:xfrm>
          <a:prstGeom prst="rect">
            <a:avLst/>
          </a:prstGeom>
          <a:solidFill>
            <a:srgbClr val="FAF8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4390949" y="7619695"/>
            <a:ext cx="2762402" cy="19202"/>
          </a:xfrm>
          <a:prstGeom prst="rect">
            <a:avLst/>
          </a:prstGeom>
          <a:solidFill>
            <a:srgbClr val="4A2F1F"/>
          </a:solidFill>
          <a:ln w="12700">
            <a:solidFill>
              <a:srgbClr val="4A2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7401154" y="7619695"/>
            <a:ext cx="2762402" cy="761695"/>
          </a:xfrm>
          <a:prstGeom prst="rect">
            <a:avLst/>
          </a:prstGeom>
          <a:solidFill>
            <a:srgbClr val="FAF8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7401154" y="7619695"/>
            <a:ext cx="2762402" cy="19202"/>
          </a:xfrm>
          <a:prstGeom prst="rect">
            <a:avLst/>
          </a:prstGeom>
          <a:solidFill>
            <a:srgbClr val="4A2F1F"/>
          </a:solidFill>
          <a:ln w="12700">
            <a:solidFill>
              <a:srgbClr val="4A2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10410444" y="7619695"/>
            <a:ext cx="2762402" cy="761695"/>
          </a:xfrm>
          <a:prstGeom prst="rect">
            <a:avLst/>
          </a:prstGeom>
          <a:solidFill>
            <a:srgbClr val="FAF8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10410444" y="7619695"/>
            <a:ext cx="2762402" cy="19202"/>
          </a:xfrm>
          <a:prstGeom prst="rect">
            <a:avLst/>
          </a:prstGeom>
          <a:solidFill>
            <a:srgbClr val="4A2F1F"/>
          </a:solidFill>
          <a:ln w="12700">
            <a:solidFill>
              <a:srgbClr val="4A2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13420649" y="7619695"/>
            <a:ext cx="2762402" cy="761695"/>
          </a:xfrm>
          <a:prstGeom prst="rect">
            <a:avLst/>
          </a:prstGeom>
          <a:solidFill>
            <a:srgbClr val="4A2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gen-dedup-332d4bd6ac51c0654c229e1e739141ae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952805" y="9810598"/>
            <a:ext cx="16383305" cy="9144"/>
          </a:xfrm>
          <a:prstGeom prst="rect">
            <a:avLst/>
          </a:prstGeom>
        </p:spPr>
      </p:pic>
      <p:pic>
        <p:nvPicPr>
          <p:cNvPr id="14" name="Image 3" descr="gen-dedup-bd0d85ff9de1999de4db86450155453f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1714500" y="3952951"/>
            <a:ext cx="14859000" cy="19202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2381098" y="3866998"/>
            <a:ext cx="190195" cy="190195"/>
          </a:xfrm>
          <a:prstGeom prst="ellipse">
            <a:avLst/>
          </a:prstGeom>
          <a:solidFill>
            <a:srgbClr val="4A2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5391302" y="3866998"/>
            <a:ext cx="190195" cy="190195"/>
          </a:xfrm>
          <a:prstGeom prst="ellipse">
            <a:avLst/>
          </a:prstGeom>
          <a:solidFill>
            <a:srgbClr val="4A2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8401507" y="3866998"/>
            <a:ext cx="190195" cy="190195"/>
          </a:xfrm>
          <a:prstGeom prst="ellipse">
            <a:avLst/>
          </a:prstGeom>
          <a:solidFill>
            <a:srgbClr val="4A2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11410798" y="3866998"/>
            <a:ext cx="190195" cy="190195"/>
          </a:xfrm>
          <a:prstGeom prst="ellipse">
            <a:avLst/>
          </a:prstGeom>
          <a:solidFill>
            <a:srgbClr val="4A2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14421002" y="3866998"/>
            <a:ext cx="190195" cy="190195"/>
          </a:xfrm>
          <a:prstGeom prst="ellipse">
            <a:avLst/>
          </a:prstGeom>
          <a:solidFill>
            <a:srgbClr val="4A2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4"/>
          <p:cNvSpPr txBox="1"/>
          <p:nvPr/>
        </p:nvSpPr>
        <p:spPr>
          <a:xfrm>
            <a:off x="952805" y="952805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03 / 사업내용 및 주요 실행과제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952805" y="1181405"/>
            <a:ext cx="85725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kern="0" spc="135" dirty="0">
                <a:solidFill>
                  <a:srgbClr val="C9C4BD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KEY WORKSTREAMS</a:t>
            </a:r>
            <a:endParaRPr lang="en-US" sz="800" dirty="0"/>
          </a:p>
        </p:txBody>
      </p:sp>
      <p:sp>
        <p:nvSpPr>
          <p:cNvPr id="22" name="Text 16"/>
          <p:cNvSpPr txBox="1"/>
          <p:nvPr/>
        </p:nvSpPr>
        <p:spPr>
          <a:xfrm>
            <a:off x="13525805" y="952805"/>
            <a:ext cx="3810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98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HISBEANS · STORE MINI APP PLAN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952805" y="1714500"/>
            <a:ext cx="163833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kern="0" spc="-71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목표를 위해 </a:t>
            </a:r>
            <a:r>
              <a:rPr lang="en-US" sz="2850" b="1" kern="0" spc="-71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5개 실행과제</a:t>
            </a:r>
            <a:r>
              <a:rPr lang="en-US" sz="2850" b="1" kern="0" spc="-71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로 나눕니다.</a:t>
            </a:r>
            <a:endParaRPr lang="en-US" sz="2850" dirty="0"/>
          </a:p>
        </p:txBody>
      </p:sp>
      <p:sp>
        <p:nvSpPr>
          <p:cNvPr id="24" name="Text 18"/>
          <p:cNvSpPr txBox="1"/>
          <p:nvPr/>
        </p:nvSpPr>
        <p:spPr>
          <a:xfrm>
            <a:off x="952805" y="2281428"/>
            <a:ext cx="16383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콘텐츠 → 설계 → 구현 → 파일럿 → 판정, 하나의 흐름으로 진행합니다.</a:t>
            </a:r>
            <a:endParaRPr lang="en-US" sz="975" dirty="0"/>
          </a:p>
        </p:txBody>
      </p:sp>
      <p:sp>
        <p:nvSpPr>
          <p:cNvPr id="25" name="Text 19"/>
          <p:cNvSpPr txBox="1"/>
          <p:nvPr/>
        </p:nvSpPr>
        <p:spPr>
          <a:xfrm>
            <a:off x="1380744" y="3238805"/>
            <a:ext cx="27624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6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01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380744" y="3400654"/>
            <a:ext cx="276240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kern="0" spc="-16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서사 콘텐츠 수집</a:t>
            </a:r>
            <a:endParaRPr lang="en-US" sz="1650" dirty="0"/>
          </a:p>
        </p:txBody>
      </p:sp>
      <p:sp>
        <p:nvSpPr>
          <p:cNvPr id="27" name="Text 21"/>
          <p:cNvSpPr txBox="1"/>
          <p:nvPr/>
        </p:nvSpPr>
        <p:spPr>
          <a:xfrm>
            <a:off x="1380744" y="4381805"/>
            <a:ext cx="2762402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목표</a:t>
            </a:r>
            <a:endParaRPr lang="en-US" sz="825" dirty="0"/>
          </a:p>
        </p:txBody>
      </p:sp>
      <p:sp>
        <p:nvSpPr>
          <p:cNvPr id="28" name="Text 22"/>
          <p:cNvSpPr txBox="1"/>
          <p:nvPr/>
        </p:nvSpPr>
        <p:spPr>
          <a:xfrm>
            <a:off x="1380744" y="4543654"/>
            <a:ext cx="27624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매장별 ‘이 커피를 내린 사람’ 서사 확보</a:t>
            </a:r>
            <a:endParaRPr lang="en-US" sz="1050" dirty="0"/>
          </a:p>
        </p:txBody>
      </p:sp>
      <p:sp>
        <p:nvSpPr>
          <p:cNvPr id="29" name="Text 23"/>
          <p:cNvSpPr txBox="1"/>
          <p:nvPr/>
        </p:nvSpPr>
        <p:spPr>
          <a:xfrm>
            <a:off x="1380744" y="5143500"/>
            <a:ext cx="2762402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핵심 실행 </a:t>
            </a:r>
            <a:r>
              <a:rPr lang="en-US" sz="825" b="1" kern="0" spc="33" dirty="0">
                <a:solidFill>
                  <a:srgbClr val="B8B3AC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(최대 3개)</a:t>
            </a:r>
            <a:endParaRPr lang="en-US" sz="825" dirty="0"/>
          </a:p>
        </p:txBody>
      </p:sp>
      <p:sp>
        <p:nvSpPr>
          <p:cNvPr id="30" name="Text 24"/>
          <p:cNvSpPr txBox="1"/>
          <p:nvPr/>
        </p:nvSpPr>
        <p:spPr>
          <a:xfrm>
            <a:off x="1368349" y="5303520"/>
            <a:ext cx="27757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 algn="l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바리스타 인터뷰·촬영</a:t>
            </a:r>
            <a:endParaRPr lang="en-US" sz="1050" dirty="0"/>
          </a:p>
          <a:p>
            <a:pPr marL="165100" indent="-165100" algn="l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당사자 노출 동의 절차</a:t>
            </a:r>
            <a:endParaRPr lang="en-US" sz="1050" dirty="0"/>
          </a:p>
          <a:p>
            <a:pPr marL="165100" indent="-165100" algn="l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전문성 중심 원고 작성</a:t>
            </a:r>
            <a:endParaRPr lang="en-US" sz="1050" dirty="0"/>
          </a:p>
        </p:txBody>
      </p:sp>
      <p:sp>
        <p:nvSpPr>
          <p:cNvPr id="31" name="Text 25"/>
          <p:cNvSpPr txBox="1"/>
          <p:nvPr/>
        </p:nvSpPr>
        <p:spPr>
          <a:xfrm>
            <a:off x="1533449" y="7733995"/>
            <a:ext cx="2457907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결과물</a:t>
            </a:r>
            <a:endParaRPr lang="en-US" sz="825" dirty="0"/>
          </a:p>
        </p:txBody>
      </p:sp>
      <p:sp>
        <p:nvSpPr>
          <p:cNvPr id="32" name="Text 26"/>
          <p:cNvSpPr txBox="1"/>
          <p:nvPr/>
        </p:nvSpPr>
        <p:spPr>
          <a:xfrm>
            <a:off x="1533449" y="7915046"/>
            <a:ext cx="24579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매장별 서사 카드 2세트</a:t>
            </a:r>
            <a:endParaRPr lang="en-US" sz="1050" dirty="0"/>
          </a:p>
        </p:txBody>
      </p:sp>
      <p:sp>
        <p:nvSpPr>
          <p:cNvPr id="33" name="Text 27"/>
          <p:cNvSpPr txBox="1"/>
          <p:nvPr/>
        </p:nvSpPr>
        <p:spPr>
          <a:xfrm>
            <a:off x="4390949" y="3238805"/>
            <a:ext cx="27624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6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02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4390949" y="3400654"/>
            <a:ext cx="276240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kern="0" spc="-16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플로우 설계</a:t>
            </a:r>
            <a:endParaRPr lang="en-US" sz="1650" dirty="0"/>
          </a:p>
        </p:txBody>
      </p:sp>
      <p:sp>
        <p:nvSpPr>
          <p:cNvPr id="35" name="Text 29"/>
          <p:cNvSpPr txBox="1"/>
          <p:nvPr/>
        </p:nvSpPr>
        <p:spPr>
          <a:xfrm>
            <a:off x="4390949" y="4381805"/>
            <a:ext cx="2762402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목표</a:t>
            </a:r>
            <a:endParaRPr lang="en-US" sz="825" dirty="0"/>
          </a:p>
        </p:txBody>
      </p:sp>
      <p:sp>
        <p:nvSpPr>
          <p:cNvPr id="36" name="Text 30"/>
          <p:cNvSpPr txBox="1"/>
          <p:nvPr/>
        </p:nvSpPr>
        <p:spPr>
          <a:xfrm>
            <a:off x="4390949" y="4543654"/>
            <a:ext cx="27624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액션 1개·30초 플로우 확정</a:t>
            </a:r>
            <a:endParaRPr lang="en-US" sz="1050" dirty="0"/>
          </a:p>
        </p:txBody>
      </p:sp>
      <p:sp>
        <p:nvSpPr>
          <p:cNvPr id="37" name="Text 31"/>
          <p:cNvSpPr txBox="1"/>
          <p:nvPr/>
        </p:nvSpPr>
        <p:spPr>
          <a:xfrm>
            <a:off x="4390949" y="5143500"/>
            <a:ext cx="2762402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핵심 실행 </a:t>
            </a:r>
            <a:r>
              <a:rPr lang="en-US" sz="825" b="1" kern="0" spc="33" dirty="0">
                <a:solidFill>
                  <a:srgbClr val="B8B3AC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(최대 3개)</a:t>
            </a:r>
            <a:endParaRPr lang="en-US" sz="825" dirty="0"/>
          </a:p>
        </p:txBody>
      </p:sp>
      <p:sp>
        <p:nvSpPr>
          <p:cNvPr id="38" name="Text 32"/>
          <p:cNvSpPr txBox="1"/>
          <p:nvPr/>
        </p:nvSpPr>
        <p:spPr>
          <a:xfrm>
            <a:off x="4378554" y="5303520"/>
            <a:ext cx="27757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 algn="l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스캔→랜딩→리뷰→보상</a:t>
            </a:r>
            <a:endParaRPr lang="en-US" sz="1050" dirty="0"/>
          </a:p>
          <a:p>
            <a:pPr marL="165100" indent="-165100" algn="l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제품 원칙 5가지 점검</a:t>
            </a:r>
            <a:endParaRPr lang="en-US" sz="1050" dirty="0"/>
          </a:p>
          <a:p>
            <a:pPr marL="165100" indent="-165100" algn="l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측정 이벤트 정의</a:t>
            </a:r>
            <a:endParaRPr lang="en-US" sz="1050" dirty="0"/>
          </a:p>
        </p:txBody>
      </p:sp>
      <p:sp>
        <p:nvSpPr>
          <p:cNvPr id="39" name="Text 33"/>
          <p:cNvSpPr txBox="1"/>
          <p:nvPr/>
        </p:nvSpPr>
        <p:spPr>
          <a:xfrm>
            <a:off x="4543654" y="7733995"/>
            <a:ext cx="2457907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결과물</a:t>
            </a:r>
            <a:endParaRPr lang="en-US" sz="825" dirty="0"/>
          </a:p>
        </p:txBody>
      </p:sp>
      <p:sp>
        <p:nvSpPr>
          <p:cNvPr id="40" name="Text 34"/>
          <p:cNvSpPr txBox="1"/>
          <p:nvPr/>
        </p:nvSpPr>
        <p:spPr>
          <a:xfrm>
            <a:off x="4543654" y="7915046"/>
            <a:ext cx="24579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화면설계서·이벤트 명세</a:t>
            </a:r>
            <a:endParaRPr lang="en-US" sz="1050" dirty="0"/>
          </a:p>
        </p:txBody>
      </p:sp>
      <p:sp>
        <p:nvSpPr>
          <p:cNvPr id="41" name="Text 35"/>
          <p:cNvSpPr txBox="1"/>
          <p:nvPr/>
        </p:nvSpPr>
        <p:spPr>
          <a:xfrm>
            <a:off x="7401154" y="3238805"/>
            <a:ext cx="27624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6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03</a:t>
            </a:r>
            <a:endParaRPr lang="en-US" sz="900" dirty="0"/>
          </a:p>
        </p:txBody>
      </p:sp>
      <p:sp>
        <p:nvSpPr>
          <p:cNvPr id="42" name="Text 36"/>
          <p:cNvSpPr txBox="1"/>
          <p:nvPr/>
        </p:nvSpPr>
        <p:spPr>
          <a:xfrm>
            <a:off x="7401154" y="3400654"/>
            <a:ext cx="276240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kern="0" spc="-16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MVP 구현</a:t>
            </a:r>
            <a:endParaRPr lang="en-US" sz="1650" dirty="0"/>
          </a:p>
        </p:txBody>
      </p:sp>
      <p:sp>
        <p:nvSpPr>
          <p:cNvPr id="43" name="Text 37"/>
          <p:cNvSpPr txBox="1"/>
          <p:nvPr/>
        </p:nvSpPr>
        <p:spPr>
          <a:xfrm>
            <a:off x="7401154" y="4381805"/>
            <a:ext cx="2762402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목표</a:t>
            </a:r>
            <a:endParaRPr lang="en-US" sz="825" dirty="0"/>
          </a:p>
        </p:txBody>
      </p:sp>
      <p:sp>
        <p:nvSpPr>
          <p:cNvPr id="44" name="Text 38"/>
          <p:cNvSpPr txBox="1"/>
          <p:nvPr/>
        </p:nvSpPr>
        <p:spPr>
          <a:xfrm>
            <a:off x="7401154" y="4543654"/>
            <a:ext cx="27624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리뷰+보상+서사 카드 최소 기능</a:t>
            </a:r>
            <a:endParaRPr lang="en-US" sz="1050" dirty="0"/>
          </a:p>
        </p:txBody>
      </p:sp>
      <p:sp>
        <p:nvSpPr>
          <p:cNvPr id="45" name="Text 39"/>
          <p:cNvSpPr txBox="1"/>
          <p:nvPr/>
        </p:nvSpPr>
        <p:spPr>
          <a:xfrm>
            <a:off x="7401154" y="5143500"/>
            <a:ext cx="2762402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핵심 실행 </a:t>
            </a:r>
            <a:r>
              <a:rPr lang="en-US" sz="825" b="1" kern="0" spc="33" dirty="0">
                <a:solidFill>
                  <a:srgbClr val="B8B3AC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(최대 3개)</a:t>
            </a:r>
            <a:endParaRPr lang="en-US" sz="825" dirty="0"/>
          </a:p>
        </p:txBody>
      </p:sp>
      <p:sp>
        <p:nvSpPr>
          <p:cNvPr id="46" name="Text 40"/>
          <p:cNvSpPr txBox="1"/>
          <p:nvPr/>
        </p:nvSpPr>
        <p:spPr>
          <a:xfrm>
            <a:off x="7387844" y="5303520"/>
            <a:ext cx="27757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 algn="l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설치 없는 웹(PWA) 구현</a:t>
            </a:r>
            <a:endParaRPr lang="en-US" sz="1050" dirty="0"/>
          </a:p>
          <a:p>
            <a:pPr marL="165100" indent="-165100" algn="l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쿠폰 발급·사용 스캔</a:t>
            </a:r>
            <a:endParaRPr lang="en-US" sz="1050" dirty="0"/>
          </a:p>
          <a:p>
            <a:pPr marL="165100" indent="-165100" algn="l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로그 수집·대시보드</a:t>
            </a:r>
            <a:endParaRPr lang="en-US" sz="1050" dirty="0"/>
          </a:p>
        </p:txBody>
      </p:sp>
      <p:sp>
        <p:nvSpPr>
          <p:cNvPr id="47" name="Text 41"/>
          <p:cNvSpPr txBox="1"/>
          <p:nvPr/>
        </p:nvSpPr>
        <p:spPr>
          <a:xfrm>
            <a:off x="7552944" y="7733995"/>
            <a:ext cx="2457907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결과물</a:t>
            </a:r>
            <a:endParaRPr lang="en-US" sz="825" dirty="0"/>
          </a:p>
        </p:txBody>
      </p:sp>
      <p:sp>
        <p:nvSpPr>
          <p:cNvPr id="48" name="Text 42"/>
          <p:cNvSpPr txBox="1"/>
          <p:nvPr/>
        </p:nvSpPr>
        <p:spPr>
          <a:xfrm>
            <a:off x="7552944" y="7915046"/>
            <a:ext cx="24579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미니앱 v1</a:t>
            </a:r>
            <a:endParaRPr lang="en-US" sz="1050" dirty="0"/>
          </a:p>
        </p:txBody>
      </p:sp>
      <p:sp>
        <p:nvSpPr>
          <p:cNvPr id="49" name="Text 43"/>
          <p:cNvSpPr txBox="1"/>
          <p:nvPr/>
        </p:nvSpPr>
        <p:spPr>
          <a:xfrm>
            <a:off x="10410444" y="3238805"/>
            <a:ext cx="27624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6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04</a:t>
            </a:r>
            <a:endParaRPr lang="en-US" sz="900" dirty="0"/>
          </a:p>
        </p:txBody>
      </p:sp>
      <p:sp>
        <p:nvSpPr>
          <p:cNvPr id="50" name="Text 44"/>
          <p:cNvSpPr txBox="1"/>
          <p:nvPr/>
        </p:nvSpPr>
        <p:spPr>
          <a:xfrm>
            <a:off x="10410444" y="3400654"/>
            <a:ext cx="276240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kern="0" spc="-16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매장 파일럿</a:t>
            </a:r>
            <a:endParaRPr lang="en-US" sz="1650" dirty="0"/>
          </a:p>
        </p:txBody>
      </p:sp>
      <p:sp>
        <p:nvSpPr>
          <p:cNvPr id="51" name="Text 45"/>
          <p:cNvSpPr txBox="1"/>
          <p:nvPr/>
        </p:nvSpPr>
        <p:spPr>
          <a:xfrm>
            <a:off x="10410444" y="4381805"/>
            <a:ext cx="2762402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목표</a:t>
            </a:r>
            <a:endParaRPr lang="en-US" sz="825" dirty="0"/>
          </a:p>
        </p:txBody>
      </p:sp>
      <p:sp>
        <p:nvSpPr>
          <p:cNvPr id="52" name="Text 46"/>
          <p:cNvSpPr txBox="1"/>
          <p:nvPr/>
        </p:nvSpPr>
        <p:spPr>
          <a:xfrm>
            <a:off x="10410444" y="4543654"/>
            <a:ext cx="27624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직영 2개점 4주 실데이터 확보</a:t>
            </a:r>
            <a:endParaRPr lang="en-US" sz="1050" dirty="0"/>
          </a:p>
        </p:txBody>
      </p:sp>
      <p:sp>
        <p:nvSpPr>
          <p:cNvPr id="53" name="Text 47"/>
          <p:cNvSpPr txBox="1"/>
          <p:nvPr/>
        </p:nvSpPr>
        <p:spPr>
          <a:xfrm>
            <a:off x="10410444" y="5143500"/>
            <a:ext cx="2762402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핵심 실행 </a:t>
            </a:r>
            <a:r>
              <a:rPr lang="en-US" sz="825" b="1" kern="0" spc="33" dirty="0">
                <a:solidFill>
                  <a:srgbClr val="B8B3AC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(최대 3개)</a:t>
            </a:r>
            <a:endParaRPr lang="en-US" sz="825" dirty="0"/>
          </a:p>
        </p:txBody>
      </p:sp>
      <p:sp>
        <p:nvSpPr>
          <p:cNvPr id="54" name="Text 48"/>
          <p:cNvSpPr txBox="1"/>
          <p:nvPr/>
        </p:nvSpPr>
        <p:spPr>
          <a:xfrm>
            <a:off x="10398049" y="5303520"/>
            <a:ext cx="27757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 algn="l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테이블 QR/NFC 부착</a:t>
            </a:r>
            <a:endParaRPr lang="en-US" sz="1050" dirty="0"/>
          </a:p>
          <a:p>
            <a:pPr marL="165100" indent="-165100" algn="l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매니저 운영 가이드</a:t>
            </a:r>
            <a:endParaRPr lang="en-US" sz="1050" dirty="0"/>
          </a:p>
          <a:p>
            <a:pPr marL="165100" indent="-165100" algn="l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주간 지표 A~D 점검</a:t>
            </a:r>
            <a:endParaRPr lang="en-US" sz="1050" dirty="0"/>
          </a:p>
        </p:txBody>
      </p:sp>
      <p:sp>
        <p:nvSpPr>
          <p:cNvPr id="55" name="Text 49"/>
          <p:cNvSpPr txBox="1"/>
          <p:nvPr/>
        </p:nvSpPr>
        <p:spPr>
          <a:xfrm>
            <a:off x="10563149" y="7733995"/>
            <a:ext cx="2457907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결과물</a:t>
            </a:r>
            <a:endParaRPr lang="en-US" sz="825" dirty="0"/>
          </a:p>
        </p:txBody>
      </p:sp>
      <p:sp>
        <p:nvSpPr>
          <p:cNvPr id="56" name="Text 50"/>
          <p:cNvSpPr txBox="1"/>
          <p:nvPr/>
        </p:nvSpPr>
        <p:spPr>
          <a:xfrm>
            <a:off x="10563149" y="7915046"/>
            <a:ext cx="24579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4주 KPI 데이터</a:t>
            </a:r>
            <a:endParaRPr lang="en-US" sz="1050" dirty="0"/>
          </a:p>
        </p:txBody>
      </p:sp>
      <p:sp>
        <p:nvSpPr>
          <p:cNvPr id="57" name="Text 51"/>
          <p:cNvSpPr txBox="1"/>
          <p:nvPr/>
        </p:nvSpPr>
        <p:spPr>
          <a:xfrm>
            <a:off x="13420649" y="3238805"/>
            <a:ext cx="27624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6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05</a:t>
            </a:r>
            <a:endParaRPr lang="en-US" sz="900" dirty="0"/>
          </a:p>
        </p:txBody>
      </p:sp>
      <p:sp>
        <p:nvSpPr>
          <p:cNvPr id="58" name="Text 52"/>
          <p:cNvSpPr txBox="1"/>
          <p:nvPr/>
        </p:nvSpPr>
        <p:spPr>
          <a:xfrm>
            <a:off x="13420649" y="3400654"/>
            <a:ext cx="276240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kern="0" spc="-16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결과 판정·확장</a:t>
            </a:r>
            <a:endParaRPr lang="en-US" sz="1650" dirty="0"/>
          </a:p>
        </p:txBody>
      </p:sp>
      <p:sp>
        <p:nvSpPr>
          <p:cNvPr id="59" name="Text 53"/>
          <p:cNvSpPr txBox="1"/>
          <p:nvPr/>
        </p:nvSpPr>
        <p:spPr>
          <a:xfrm>
            <a:off x="13420649" y="4381805"/>
            <a:ext cx="2762402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목표</a:t>
            </a:r>
            <a:endParaRPr lang="en-US" sz="825" dirty="0"/>
          </a:p>
        </p:txBody>
      </p:sp>
      <p:sp>
        <p:nvSpPr>
          <p:cNvPr id="60" name="Text 54"/>
          <p:cNvSpPr txBox="1"/>
          <p:nvPr/>
        </p:nvSpPr>
        <p:spPr>
          <a:xfrm>
            <a:off x="13420649" y="4543654"/>
            <a:ext cx="27624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실패 기준 대비 성과 판정</a:t>
            </a:r>
            <a:endParaRPr lang="en-US" sz="1050" dirty="0"/>
          </a:p>
        </p:txBody>
      </p:sp>
      <p:sp>
        <p:nvSpPr>
          <p:cNvPr id="61" name="Text 55"/>
          <p:cNvSpPr txBox="1"/>
          <p:nvPr/>
        </p:nvSpPr>
        <p:spPr>
          <a:xfrm>
            <a:off x="13420649" y="5143500"/>
            <a:ext cx="2762402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핵심 실행 </a:t>
            </a:r>
            <a:r>
              <a:rPr lang="en-US" sz="825" b="1" kern="0" spc="33" dirty="0">
                <a:solidFill>
                  <a:srgbClr val="B8B3AC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(최대 3개)</a:t>
            </a:r>
            <a:endParaRPr lang="en-US" sz="825" dirty="0"/>
          </a:p>
        </p:txBody>
      </p:sp>
      <p:sp>
        <p:nvSpPr>
          <p:cNvPr id="62" name="Text 56"/>
          <p:cNvSpPr txBox="1"/>
          <p:nvPr/>
        </p:nvSpPr>
        <p:spPr>
          <a:xfrm>
            <a:off x="13408254" y="5303520"/>
            <a:ext cx="27757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 algn="l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지표 A~D 판정</a:t>
            </a:r>
            <a:endParaRPr lang="en-US" sz="1050" dirty="0"/>
          </a:p>
          <a:p>
            <a:pPr marL="165100" indent="-165100" algn="l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POS 매출 전후 비교</a:t>
            </a:r>
            <a:endParaRPr lang="en-US" sz="1050" dirty="0"/>
          </a:p>
          <a:p>
            <a:pPr marL="165100" indent="-165100" algn="l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자문운영점 확장안</a:t>
            </a:r>
            <a:endParaRPr lang="en-US" sz="1050" dirty="0"/>
          </a:p>
        </p:txBody>
      </p:sp>
      <p:sp>
        <p:nvSpPr>
          <p:cNvPr id="63" name="Text 57"/>
          <p:cNvSpPr txBox="1"/>
          <p:nvPr/>
        </p:nvSpPr>
        <p:spPr>
          <a:xfrm>
            <a:off x="13573354" y="7733995"/>
            <a:ext cx="2457907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EFE6DE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결과물</a:t>
            </a:r>
            <a:endParaRPr lang="en-US" sz="825" dirty="0"/>
          </a:p>
        </p:txBody>
      </p:sp>
      <p:sp>
        <p:nvSpPr>
          <p:cNvPr id="64" name="Text 58"/>
          <p:cNvSpPr txBox="1"/>
          <p:nvPr/>
        </p:nvSpPr>
        <p:spPr>
          <a:xfrm>
            <a:off x="13573354" y="7915046"/>
            <a:ext cx="24579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결과 보고서·확장안</a:t>
            </a:r>
            <a:endParaRPr lang="en-US" sz="1050" dirty="0"/>
          </a:p>
        </p:txBody>
      </p:sp>
      <p:sp>
        <p:nvSpPr>
          <p:cNvPr id="65" name="Text 59"/>
          <p:cNvSpPr txBox="1"/>
          <p:nvPr/>
        </p:nvSpPr>
        <p:spPr>
          <a:xfrm>
            <a:off x="952805" y="8762695"/>
            <a:ext cx="16383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설계 원칙 │ </a:t>
            </a:r>
            <a:r>
              <a:rPr lang="en-US" sz="900" b="1" kern="0" spc="9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설치를 요구하지 않고 · 보이는 것을 반복하지 않고 · 한 화면에 액션 하나 · 30초 안에 끝나고 · 모든 화면은 측정됩니다.</a:t>
            </a:r>
            <a:endParaRPr lang="en-US" sz="900" dirty="0"/>
          </a:p>
        </p:txBody>
      </p:sp>
      <p:sp>
        <p:nvSpPr>
          <p:cNvPr id="66" name="Text 60"/>
          <p:cNvSpPr txBox="1"/>
          <p:nvPr/>
        </p:nvSpPr>
        <p:spPr>
          <a:xfrm>
            <a:off x="952805" y="9982505"/>
            <a:ext cx="857250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HISBEANS / 매장 미니앱 기획서</a:t>
            </a:r>
            <a:endParaRPr lang="en-US" sz="825" dirty="0"/>
          </a:p>
        </p:txBody>
      </p:sp>
      <p:sp>
        <p:nvSpPr>
          <p:cNvPr id="67" name="Text 61"/>
          <p:cNvSpPr txBox="1"/>
          <p:nvPr/>
        </p:nvSpPr>
        <p:spPr>
          <a:xfrm>
            <a:off x="15430500" y="9982505"/>
            <a:ext cx="190561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825" kern="0" spc="83" dirty="0">
                <a:solidFill>
                  <a:srgbClr val="8A8A8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03 / 08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aa563f3761172d4adc298f0c43b88f6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2805" y="761695"/>
            <a:ext cx="16383305" cy="9144"/>
          </a:xfrm>
          <a:prstGeom prst="rect">
            <a:avLst/>
          </a:prstGeom>
        </p:spPr>
      </p:pic>
      <p:pic>
        <p:nvPicPr>
          <p:cNvPr id="3" name="Image 1" descr="gen-dedup-0027c3c5f3cae63b5ca1e3146ac43493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952805" y="2667305"/>
            <a:ext cx="761695" cy="1920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906402" y="6620256"/>
            <a:ext cx="5429707" cy="2476195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2" descr="gen-dedup-332d4bd6ac51c0654c229e1e739141ae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952805" y="9810598"/>
            <a:ext cx="16383305" cy="91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6286500" y="3353105"/>
            <a:ext cx="5715000" cy="629107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3" descr="gen-dedup-34311a424f02262b83e7a5874ef3999c.png"/>
          <p:cNvPicPr>
            <a:picLocks noChangeAspect="1"/>
          </p:cNvPicPr>
          <p:nvPr/>
        </p:nvPicPr>
        <p:blipFill>
          <a:blip r:embed="rId6"/>
          <a:srcRect t="-2116" b="-2116"/>
          <a:stretch/>
        </p:blipFill>
        <p:spPr>
          <a:xfrm>
            <a:off x="9139428" y="3981298"/>
            <a:ext cx="9144" cy="247802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6762902" y="4229100"/>
            <a:ext cx="4762195" cy="629107"/>
          </a:xfrm>
          <a:prstGeom prst="rect">
            <a:avLst/>
          </a:prstGeom>
          <a:solidFill>
            <a:srgbClr val="4A2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4" descr="gen-dedup-34311a424f02262b83e7a5874ef3999c.png"/>
          <p:cNvPicPr>
            <a:picLocks noChangeAspect="1"/>
          </p:cNvPicPr>
          <p:nvPr/>
        </p:nvPicPr>
        <p:blipFill>
          <a:blip r:embed="rId6"/>
          <a:srcRect t="-2116" b="-2116"/>
          <a:stretch/>
        </p:blipFill>
        <p:spPr>
          <a:xfrm>
            <a:off x="9139428" y="4858207"/>
            <a:ext cx="9144" cy="247802"/>
          </a:xfrm>
          <a:prstGeom prst="rect">
            <a:avLst/>
          </a:prstGeom>
        </p:spPr>
      </p:pic>
      <p:pic>
        <p:nvPicPr>
          <p:cNvPr id="10" name="Image 5" descr="gen-dedup-faa563f3761172d4adc298f0c43b88f6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2190902" y="5286146"/>
            <a:ext cx="13906195" cy="9144"/>
          </a:xfrm>
          <a:prstGeom prst="rect">
            <a:avLst/>
          </a:prstGeom>
        </p:spPr>
      </p:pic>
      <p:pic>
        <p:nvPicPr>
          <p:cNvPr id="11" name="Image 6" descr="gen-dedup-552fe3ca3bc854ab6126123925f0717b.png"/>
          <p:cNvPicPr>
            <a:picLocks noChangeAspect="1"/>
          </p:cNvPicPr>
          <p:nvPr/>
        </p:nvPicPr>
        <p:blipFill>
          <a:blip r:embed="rId7"/>
          <a:srcRect t="-2105" b="-2105"/>
          <a:stretch/>
        </p:blipFill>
        <p:spPr>
          <a:xfrm>
            <a:off x="3038551" y="5105095"/>
            <a:ext cx="9144" cy="181051"/>
          </a:xfrm>
          <a:prstGeom prst="rect">
            <a:avLst/>
          </a:prstGeom>
        </p:spPr>
      </p:pic>
      <p:pic>
        <p:nvPicPr>
          <p:cNvPr id="12" name="Image 7" descr="gen-dedup-552fe3ca3bc854ab6126123925f0717b.png"/>
          <p:cNvPicPr>
            <a:picLocks noChangeAspect="1"/>
          </p:cNvPicPr>
          <p:nvPr/>
        </p:nvPicPr>
        <p:blipFill>
          <a:blip r:embed="rId7"/>
          <a:srcRect t="-2105" b="-2105"/>
          <a:stretch/>
        </p:blipFill>
        <p:spPr>
          <a:xfrm>
            <a:off x="6086246" y="5105095"/>
            <a:ext cx="9144" cy="181051"/>
          </a:xfrm>
          <a:prstGeom prst="rect">
            <a:avLst/>
          </a:prstGeom>
        </p:spPr>
      </p:pic>
      <p:pic>
        <p:nvPicPr>
          <p:cNvPr id="13" name="Image 8" descr="gen-dedup-552fe3ca3bc854ab6126123925f0717b.png"/>
          <p:cNvPicPr>
            <a:picLocks noChangeAspect="1"/>
          </p:cNvPicPr>
          <p:nvPr/>
        </p:nvPicPr>
        <p:blipFill>
          <a:blip r:embed="rId7"/>
          <a:srcRect t="-2105" b="-2105"/>
          <a:stretch/>
        </p:blipFill>
        <p:spPr>
          <a:xfrm>
            <a:off x="12182551" y="5105095"/>
            <a:ext cx="9144" cy="181051"/>
          </a:xfrm>
          <a:prstGeom prst="rect">
            <a:avLst/>
          </a:prstGeom>
        </p:spPr>
      </p:pic>
      <p:pic>
        <p:nvPicPr>
          <p:cNvPr id="14" name="Image 9" descr="gen-dedup-552fe3ca3bc854ab6126123925f0717b.png"/>
          <p:cNvPicPr>
            <a:picLocks noChangeAspect="1"/>
          </p:cNvPicPr>
          <p:nvPr/>
        </p:nvPicPr>
        <p:blipFill>
          <a:blip r:embed="rId7"/>
          <a:srcRect t="-2105" b="-2105"/>
          <a:stretch/>
        </p:blipFill>
        <p:spPr>
          <a:xfrm>
            <a:off x="15230246" y="5105095"/>
            <a:ext cx="9144" cy="181051"/>
          </a:xfrm>
          <a:prstGeom prst="rect">
            <a:avLst/>
          </a:prstGeom>
        </p:spPr>
      </p:pic>
      <p:pic>
        <p:nvPicPr>
          <p:cNvPr id="15" name="Image 10" descr="gen-dedup-5eaca3c2428a35d9da160e08e6dcdb19.png"/>
          <p:cNvPicPr>
            <a:picLocks noChangeAspect="1"/>
          </p:cNvPicPr>
          <p:nvPr/>
        </p:nvPicPr>
        <p:blipFill>
          <a:blip r:embed="rId8"/>
          <a:srcRect t="-2001" b="-2001"/>
          <a:stretch/>
        </p:blipFill>
        <p:spPr>
          <a:xfrm>
            <a:off x="3038551" y="5286146"/>
            <a:ext cx="9144" cy="95098"/>
          </a:xfrm>
          <a:prstGeom prst="rect">
            <a:avLst/>
          </a:prstGeom>
        </p:spPr>
      </p:pic>
      <p:pic>
        <p:nvPicPr>
          <p:cNvPr id="16" name="Image 11" descr="gen-dedup-5eaca3c2428a35d9da160e08e6dcdb19.png"/>
          <p:cNvPicPr>
            <a:picLocks noChangeAspect="1"/>
          </p:cNvPicPr>
          <p:nvPr/>
        </p:nvPicPr>
        <p:blipFill>
          <a:blip r:embed="rId8"/>
          <a:srcRect t="-2001" b="-2001"/>
          <a:stretch/>
        </p:blipFill>
        <p:spPr>
          <a:xfrm>
            <a:off x="6086246" y="5286146"/>
            <a:ext cx="9144" cy="95098"/>
          </a:xfrm>
          <a:prstGeom prst="rect">
            <a:avLst/>
          </a:prstGeom>
        </p:spPr>
      </p:pic>
      <p:pic>
        <p:nvPicPr>
          <p:cNvPr id="17" name="Image 12" descr="gen-dedup-5eaca3c2428a35d9da160e08e6dcdb19.png"/>
          <p:cNvPicPr>
            <a:picLocks noChangeAspect="1"/>
          </p:cNvPicPr>
          <p:nvPr/>
        </p:nvPicPr>
        <p:blipFill>
          <a:blip r:embed="rId8"/>
          <a:srcRect t="-2001" b="-2001"/>
          <a:stretch/>
        </p:blipFill>
        <p:spPr>
          <a:xfrm>
            <a:off x="9134856" y="5286146"/>
            <a:ext cx="9144" cy="95098"/>
          </a:xfrm>
          <a:prstGeom prst="rect">
            <a:avLst/>
          </a:prstGeom>
        </p:spPr>
      </p:pic>
      <p:pic>
        <p:nvPicPr>
          <p:cNvPr id="18" name="Image 13" descr="gen-dedup-5eaca3c2428a35d9da160e08e6dcdb19.png"/>
          <p:cNvPicPr>
            <a:picLocks noChangeAspect="1"/>
          </p:cNvPicPr>
          <p:nvPr/>
        </p:nvPicPr>
        <p:blipFill>
          <a:blip r:embed="rId8"/>
          <a:srcRect t="-2001" b="-2001"/>
          <a:stretch/>
        </p:blipFill>
        <p:spPr>
          <a:xfrm>
            <a:off x="12182551" y="5286146"/>
            <a:ext cx="9144" cy="95098"/>
          </a:xfrm>
          <a:prstGeom prst="rect">
            <a:avLst/>
          </a:prstGeom>
        </p:spPr>
      </p:pic>
      <p:pic>
        <p:nvPicPr>
          <p:cNvPr id="19" name="Image 14" descr="gen-dedup-5eaca3c2428a35d9da160e08e6dcdb19.png"/>
          <p:cNvPicPr>
            <a:picLocks noChangeAspect="1"/>
          </p:cNvPicPr>
          <p:nvPr/>
        </p:nvPicPr>
        <p:blipFill>
          <a:blip r:embed="rId8"/>
          <a:srcRect t="-2001" b="-2001"/>
          <a:stretch/>
        </p:blipFill>
        <p:spPr>
          <a:xfrm>
            <a:off x="15230246" y="5286146"/>
            <a:ext cx="9144" cy="95098"/>
          </a:xfrm>
          <a:prstGeom prst="rect">
            <a:avLst/>
          </a:prstGeom>
        </p:spPr>
      </p:pic>
      <p:sp>
        <p:nvSpPr>
          <p:cNvPr id="20" name="Shape 3"/>
          <p:cNvSpPr/>
          <p:nvPr/>
        </p:nvSpPr>
        <p:spPr>
          <a:xfrm>
            <a:off x="2190902" y="5381244"/>
            <a:ext cx="1714500" cy="437998"/>
          </a:xfrm>
          <a:prstGeom prst="rect">
            <a:avLst/>
          </a:prstGeom>
          <a:solidFill>
            <a:srgbClr val="FAF8F5"/>
          </a:solidFill>
          <a:ln w="12700">
            <a:solidFill>
              <a:srgbClr val="C9C4B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4"/>
          <p:cNvSpPr/>
          <p:nvPr/>
        </p:nvSpPr>
        <p:spPr>
          <a:xfrm>
            <a:off x="5238598" y="5381244"/>
            <a:ext cx="1714500" cy="437998"/>
          </a:xfrm>
          <a:prstGeom prst="rect">
            <a:avLst/>
          </a:prstGeom>
          <a:solidFill>
            <a:srgbClr val="FAF8F5"/>
          </a:solidFill>
          <a:ln w="12700">
            <a:solidFill>
              <a:srgbClr val="C9C4B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5"/>
          <p:cNvSpPr/>
          <p:nvPr/>
        </p:nvSpPr>
        <p:spPr>
          <a:xfrm>
            <a:off x="8287207" y="5381244"/>
            <a:ext cx="1714500" cy="437998"/>
          </a:xfrm>
          <a:prstGeom prst="rect">
            <a:avLst/>
          </a:prstGeom>
          <a:solidFill>
            <a:srgbClr val="FAF8F5"/>
          </a:solidFill>
          <a:ln w="12700">
            <a:solidFill>
              <a:srgbClr val="C9C4B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6"/>
          <p:cNvSpPr/>
          <p:nvPr/>
        </p:nvSpPr>
        <p:spPr>
          <a:xfrm>
            <a:off x="11334902" y="5381244"/>
            <a:ext cx="1714500" cy="437998"/>
          </a:xfrm>
          <a:prstGeom prst="rect">
            <a:avLst/>
          </a:prstGeom>
          <a:solidFill>
            <a:srgbClr val="FAF8F5"/>
          </a:solidFill>
          <a:ln w="12700">
            <a:solidFill>
              <a:srgbClr val="C9C4B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7"/>
          <p:cNvSpPr/>
          <p:nvPr/>
        </p:nvSpPr>
        <p:spPr>
          <a:xfrm>
            <a:off x="14382598" y="5381244"/>
            <a:ext cx="1714500" cy="437998"/>
          </a:xfrm>
          <a:prstGeom prst="rect">
            <a:avLst/>
          </a:prstGeom>
          <a:solidFill>
            <a:srgbClr val="FAF8F5"/>
          </a:solidFill>
          <a:ln w="12700">
            <a:solidFill>
              <a:srgbClr val="C9C4B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/>
          <p:cNvSpPr txBox="1"/>
          <p:nvPr/>
        </p:nvSpPr>
        <p:spPr>
          <a:xfrm>
            <a:off x="952805" y="952805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04 / 프로젝트 구성 및 역할</a:t>
            </a:r>
            <a:endParaRPr lang="en-US" sz="1200" dirty="0"/>
          </a:p>
        </p:txBody>
      </p:sp>
      <p:sp>
        <p:nvSpPr>
          <p:cNvPr id="26" name="Text 9"/>
          <p:cNvSpPr txBox="1"/>
          <p:nvPr/>
        </p:nvSpPr>
        <p:spPr>
          <a:xfrm>
            <a:off x="952805" y="1181405"/>
            <a:ext cx="85725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kern="0" spc="135" dirty="0">
                <a:solidFill>
                  <a:srgbClr val="C9C4BD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PROJECT TEAM &amp; R&amp;R</a:t>
            </a:r>
            <a:endParaRPr lang="en-US" sz="800" dirty="0"/>
          </a:p>
        </p:txBody>
      </p:sp>
      <p:sp>
        <p:nvSpPr>
          <p:cNvPr id="27" name="Text 10"/>
          <p:cNvSpPr txBox="1"/>
          <p:nvPr/>
        </p:nvSpPr>
        <p:spPr>
          <a:xfrm>
            <a:off x="13525805" y="952805"/>
            <a:ext cx="3810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98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HISBEANS · STORE MINI APP PLAN</a:t>
            </a:r>
            <a:endParaRPr lang="en-US" sz="900" dirty="0"/>
          </a:p>
        </p:txBody>
      </p:sp>
      <p:sp>
        <p:nvSpPr>
          <p:cNvPr id="28" name="Text 11"/>
          <p:cNvSpPr txBox="1"/>
          <p:nvPr/>
        </p:nvSpPr>
        <p:spPr>
          <a:xfrm>
            <a:off x="952805" y="1714500"/>
            <a:ext cx="163833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kern="0" spc="-71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누가 무엇을 </a:t>
            </a:r>
            <a:r>
              <a:rPr lang="en-US" sz="2850" b="1" kern="0" spc="-71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언제까지</a:t>
            </a:r>
            <a:r>
              <a:rPr lang="en-US" sz="2850" b="1" kern="0" spc="-71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 완료할지 정합니다.</a:t>
            </a:r>
            <a:endParaRPr lang="en-US" sz="2850" dirty="0"/>
          </a:p>
        </p:txBody>
      </p:sp>
      <p:sp>
        <p:nvSpPr>
          <p:cNvPr id="29" name="Text 12"/>
          <p:cNvSpPr txBox="1"/>
          <p:nvPr/>
        </p:nvSpPr>
        <p:spPr>
          <a:xfrm>
            <a:off x="952805" y="3000146"/>
            <a:ext cx="8572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0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프로젝트 추진체계</a:t>
            </a:r>
            <a:endParaRPr lang="en-US" sz="975" dirty="0"/>
          </a:p>
        </p:txBody>
      </p:sp>
      <p:sp>
        <p:nvSpPr>
          <p:cNvPr id="30" name="Text 13"/>
          <p:cNvSpPr txBox="1"/>
          <p:nvPr/>
        </p:nvSpPr>
        <p:spPr>
          <a:xfrm>
            <a:off x="6458407" y="3457346"/>
            <a:ext cx="537210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25" b="1" kern="0" spc="33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의사결정 책임자 </a:t>
            </a:r>
            <a:r>
              <a:rPr lang="en-US" sz="825" b="1" kern="0" spc="33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(Sponsor)</a:t>
            </a:r>
            <a:endParaRPr lang="en-US" sz="825" dirty="0"/>
          </a:p>
        </p:txBody>
      </p:sp>
      <p:sp>
        <p:nvSpPr>
          <p:cNvPr id="31" name="Text 14"/>
          <p:cNvSpPr txBox="1"/>
          <p:nvPr/>
        </p:nvSpPr>
        <p:spPr>
          <a:xfrm>
            <a:off x="6458407" y="3638398"/>
            <a:ext cx="53721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리더십 (대표) · 검토: 조슈아 · 제나 · 클로버</a:t>
            </a:r>
            <a:endParaRPr lang="en-US" sz="1275" dirty="0"/>
          </a:p>
        </p:txBody>
      </p:sp>
      <p:sp>
        <p:nvSpPr>
          <p:cNvPr id="32" name="Text 15"/>
          <p:cNvSpPr txBox="1"/>
          <p:nvPr/>
        </p:nvSpPr>
        <p:spPr>
          <a:xfrm>
            <a:off x="6933895" y="4334256"/>
            <a:ext cx="442021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25" b="1" kern="0" spc="33" dirty="0">
                <a:solidFill>
                  <a:srgbClr val="EFE6DE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PM · 프로젝트 전체 책임자</a:t>
            </a:r>
            <a:endParaRPr lang="en-US" sz="825" dirty="0"/>
          </a:p>
        </p:txBody>
      </p:sp>
      <p:sp>
        <p:nvSpPr>
          <p:cNvPr id="33" name="Text 16"/>
          <p:cNvSpPr txBox="1"/>
          <p:nvPr/>
        </p:nvSpPr>
        <p:spPr>
          <a:xfrm>
            <a:off x="6933895" y="4515307"/>
            <a:ext cx="44202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FFFFF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[이름] / 미니앱 기획 담당</a:t>
            </a:r>
            <a:endParaRPr lang="en-US" sz="1275" dirty="0"/>
          </a:p>
        </p:txBody>
      </p:sp>
      <p:sp>
        <p:nvSpPr>
          <p:cNvPr id="34" name="Text 17"/>
          <p:cNvSpPr txBox="1"/>
          <p:nvPr/>
        </p:nvSpPr>
        <p:spPr>
          <a:xfrm>
            <a:off x="952805" y="5143500"/>
            <a:ext cx="190561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참여부서</a:t>
            </a:r>
            <a:endParaRPr lang="en-US" sz="825" dirty="0"/>
          </a:p>
        </p:txBody>
      </p:sp>
      <p:sp>
        <p:nvSpPr>
          <p:cNvPr id="35" name="Text 18"/>
          <p:cNvSpPr txBox="1"/>
          <p:nvPr/>
        </p:nvSpPr>
        <p:spPr>
          <a:xfrm>
            <a:off x="2190902" y="5505602"/>
            <a:ext cx="1714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기획 (PM)</a:t>
            </a:r>
            <a:endParaRPr lang="en-US" sz="1125" dirty="0"/>
          </a:p>
        </p:txBody>
      </p:sp>
      <p:sp>
        <p:nvSpPr>
          <p:cNvPr id="36" name="Text 19"/>
          <p:cNvSpPr txBox="1"/>
          <p:nvPr/>
        </p:nvSpPr>
        <p:spPr>
          <a:xfrm>
            <a:off x="5238598" y="5505602"/>
            <a:ext cx="1714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직영 매장운영</a:t>
            </a:r>
            <a:endParaRPr lang="en-US" sz="1125" dirty="0"/>
          </a:p>
        </p:txBody>
      </p:sp>
      <p:sp>
        <p:nvSpPr>
          <p:cNvPr id="37" name="Text 20"/>
          <p:cNvSpPr txBox="1"/>
          <p:nvPr/>
        </p:nvSpPr>
        <p:spPr>
          <a:xfrm>
            <a:off x="8287207" y="5505602"/>
            <a:ext cx="1714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브랜드·콘텐츠</a:t>
            </a:r>
            <a:endParaRPr lang="en-US" sz="1125" dirty="0"/>
          </a:p>
        </p:txBody>
      </p:sp>
      <p:sp>
        <p:nvSpPr>
          <p:cNvPr id="38" name="Text 21"/>
          <p:cNvSpPr txBox="1"/>
          <p:nvPr/>
        </p:nvSpPr>
        <p:spPr>
          <a:xfrm>
            <a:off x="11334902" y="5505602"/>
            <a:ext cx="1714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개발 (웹)</a:t>
            </a:r>
            <a:endParaRPr lang="en-US" sz="1125" dirty="0"/>
          </a:p>
        </p:txBody>
      </p:sp>
      <p:sp>
        <p:nvSpPr>
          <p:cNvPr id="39" name="Text 22"/>
          <p:cNvSpPr txBox="1"/>
          <p:nvPr/>
        </p:nvSpPr>
        <p:spPr>
          <a:xfrm>
            <a:off x="14382598" y="5505602"/>
            <a:ext cx="1714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운영·재무</a:t>
            </a:r>
            <a:endParaRPr lang="en-US" sz="1125" dirty="0"/>
          </a:p>
        </p:txBody>
      </p:sp>
      <p:sp>
        <p:nvSpPr>
          <p:cNvPr id="40" name="Text 23"/>
          <p:cNvSpPr txBox="1"/>
          <p:nvPr/>
        </p:nvSpPr>
        <p:spPr>
          <a:xfrm>
            <a:off x="952805" y="6143854"/>
            <a:ext cx="10478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0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역할 및 책임 </a:t>
            </a:r>
            <a:r>
              <a:rPr lang="en-US" sz="975" b="1" kern="0" spc="20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(R&amp;R)</a:t>
            </a:r>
            <a:endParaRPr lang="en-US" sz="975" dirty="0"/>
          </a:p>
        </p:txBody>
      </p:sp>
      <p:sp>
        <p:nvSpPr>
          <p:cNvPr id="41" name="Text 24"/>
          <p:cNvSpPr txBox="1"/>
          <p:nvPr/>
        </p:nvSpPr>
        <p:spPr>
          <a:xfrm>
            <a:off x="952805" y="6314846"/>
            <a:ext cx="10478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8A8A8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누가 언제까지 무엇을 완료하나요?</a:t>
            </a:r>
            <a:endParaRPr lang="en-US" sz="975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6620256"/>
          <a:ext cx="10477196" cy="2391156"/>
        </p:xfrm>
        <a:graphic>
          <a:graphicData uri="http://schemas.openxmlformats.org/drawingml/2006/table">
            <a:tbl>
              <a:tblPr/>
              <a:tblGrid>
                <a:gridCol w="3353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66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66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60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85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8A8A8A"/>
                          </a:solidFill>
                          <a:latin typeface="Pretendard Variable Black" pitchFamily="34" charset="0"/>
                          <a:ea typeface="Pretendard Variable Black" pitchFamily="34" charset="-122"/>
                          <a:cs typeface="Pretendard Variable Black" pitchFamily="34" charset="-120"/>
                        </a:rPr>
                        <a:t>핵심 업무</a:t>
                      </a:r>
                      <a:endParaRPr lang="en-US" sz="825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95098" marB="75895" anchor="ctr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8A8A8A"/>
                          </a:solidFill>
                          <a:latin typeface="Pretendard Variable Black" pitchFamily="34" charset="0"/>
                          <a:ea typeface="Pretendard Variable Black" pitchFamily="34" charset="-122"/>
                          <a:cs typeface="Pretendard Variable Black" pitchFamily="34" charset="-120"/>
                        </a:rPr>
                        <a:t>책임자</a:t>
                      </a:r>
                      <a:endParaRPr lang="en-US" sz="825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95098" marB="75895" anchor="ctr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8A8A8A"/>
                          </a:solidFill>
                          <a:latin typeface="Pretendard Variable Black" pitchFamily="34" charset="0"/>
                          <a:ea typeface="Pretendard Variable Black" pitchFamily="34" charset="-122"/>
                          <a:cs typeface="Pretendard Variable Black" pitchFamily="34" charset="-120"/>
                        </a:rPr>
                        <a:t>협업자</a:t>
                      </a:r>
                      <a:endParaRPr lang="en-US" sz="825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95098" marB="75895" anchor="ctr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8A8A8A"/>
                          </a:solidFill>
                          <a:latin typeface="Pretendard Variable Black" pitchFamily="34" charset="0"/>
                          <a:ea typeface="Pretendard Variable Black" pitchFamily="34" charset="-122"/>
                          <a:cs typeface="Pretendard Variable Black" pitchFamily="34" charset="-120"/>
                        </a:rPr>
                        <a:t>완료 결과물</a:t>
                      </a:r>
                      <a:endParaRPr lang="en-US" sz="825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95098" marB="75895" anchor="ctr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8A8A8A"/>
                          </a:solidFill>
                          <a:latin typeface="Pretendard Variable Black" pitchFamily="34" charset="0"/>
                          <a:ea typeface="Pretendard Variable Black" pitchFamily="34" charset="-122"/>
                          <a:cs typeface="Pretendard Variable Black" pitchFamily="34" charset="-120"/>
                        </a:rPr>
                        <a:t>완료기한</a:t>
                      </a:r>
                      <a:endParaRPr lang="en-US" sz="825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95098" marB="75895" anchor="ctr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5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목적 재정의·플로우 설계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05156" marB="105156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기획 (PM)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05156" marB="105156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브랜드·콘텐츠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05156" marB="105156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합의안·화면설계서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05156" marB="105156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1개월차 W1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05156" marB="105156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5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서사 콘텐츠 수집·동의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05156" marB="105156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브랜드·콘텐츠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05156" marB="105156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매장 매니저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05156" marB="105156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서사 카드 원고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05156" marB="105156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1개월차 W3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05156" marB="105156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5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MVP 구현 (리뷰·보상·서사)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05156" marB="105156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개발 (웹)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05156" marB="105156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기획 (PM)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05156" marB="105156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미니앱 v1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05156" marB="105156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1개월차 W3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05156" marB="105156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5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혜택 원가·정산 기준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05156" marB="105156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운영·재무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05156" marB="105156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기획 (PM)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05156" marB="105156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쿠폰 정산 기준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05156" marB="105156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1개월차 W3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05156" marB="105156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5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QR 설치·4주 파일럿 운영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05156" marB="105156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직영 매장운영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05156" marB="105156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기획 (PM)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05156" marB="105156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4주 KPI 데이터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05156" marB="105156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2개월차 W3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05156" marB="105156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3" name="Text 25"/>
          <p:cNvSpPr txBox="1"/>
          <p:nvPr/>
        </p:nvSpPr>
        <p:spPr>
          <a:xfrm>
            <a:off x="12191695" y="6810451"/>
            <a:ext cx="48582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" dirty="0">
                <a:solidFill>
                  <a:srgbClr val="7A4E30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핵심 원칙</a:t>
            </a:r>
            <a:endParaRPr lang="en-US" sz="900" dirty="0"/>
          </a:p>
        </p:txBody>
      </p:sp>
      <p:sp>
        <p:nvSpPr>
          <p:cNvPr id="44" name="Text 26"/>
          <p:cNvSpPr txBox="1"/>
          <p:nvPr/>
        </p:nvSpPr>
        <p:spPr>
          <a:xfrm>
            <a:off x="12191695" y="7134149"/>
            <a:ext cx="4858207" cy="1314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000" b="1" kern="0" spc="-60" dirty="0">
                <a:solidFill>
                  <a:srgbClr val="FFFFF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한 업무.</a:t>
            </a:r>
            <a:endParaRPr lang="en-US" sz="3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000" b="1" kern="0" spc="-60" dirty="0">
                <a:solidFill>
                  <a:srgbClr val="FFFFF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한 명의 책임자.</a:t>
            </a:r>
            <a:endParaRPr lang="en-US" sz="3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000" b="1" kern="0" spc="-60" dirty="0">
                <a:solidFill>
                  <a:srgbClr val="FFFFF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하나의 완료기한.</a:t>
            </a:r>
            <a:endParaRPr lang="en-US" sz="3000" dirty="0"/>
          </a:p>
        </p:txBody>
      </p:sp>
      <p:pic>
        <p:nvPicPr>
          <p:cNvPr id="45" name="Image 15" descr="gen-dedup-20aa66cd1205993de89756c548049ff9.png"/>
          <p:cNvPicPr>
            <a:picLocks noChangeAspect="1"/>
          </p:cNvPicPr>
          <p:nvPr/>
        </p:nvPicPr>
        <p:blipFill>
          <a:blip r:embed="rId9"/>
          <a:srcRect t="-360" b="-360"/>
          <a:stretch/>
        </p:blipFill>
        <p:spPr>
          <a:xfrm>
            <a:off x="12191695" y="8639251"/>
            <a:ext cx="381305" cy="19202"/>
          </a:xfrm>
          <a:prstGeom prst="rect">
            <a:avLst/>
          </a:prstGeom>
        </p:spPr>
      </p:pic>
      <p:sp>
        <p:nvSpPr>
          <p:cNvPr id="46" name="Text 27"/>
          <p:cNvSpPr txBox="1"/>
          <p:nvPr/>
        </p:nvSpPr>
        <p:spPr>
          <a:xfrm>
            <a:off x="12191695" y="8791956"/>
            <a:ext cx="485820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EFE6DE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모든 업무는 책임자 1명 · 완료기한 1개로 운영합니다. 의사결정은 리더십이 맡습니다.</a:t>
            </a:r>
            <a:endParaRPr lang="en-US" sz="975" dirty="0"/>
          </a:p>
        </p:txBody>
      </p:sp>
      <p:sp>
        <p:nvSpPr>
          <p:cNvPr id="47" name="Text 28"/>
          <p:cNvSpPr txBox="1"/>
          <p:nvPr/>
        </p:nvSpPr>
        <p:spPr>
          <a:xfrm>
            <a:off x="952805" y="9982505"/>
            <a:ext cx="857250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HISBEANS / 매장 미니앱 기획서</a:t>
            </a:r>
            <a:endParaRPr lang="en-US" sz="825" dirty="0"/>
          </a:p>
        </p:txBody>
      </p:sp>
      <p:sp>
        <p:nvSpPr>
          <p:cNvPr id="48" name="Text 29"/>
          <p:cNvSpPr txBox="1"/>
          <p:nvPr/>
        </p:nvSpPr>
        <p:spPr>
          <a:xfrm>
            <a:off x="15430500" y="9982505"/>
            <a:ext cx="190561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825" kern="0" spc="83" dirty="0">
                <a:solidFill>
                  <a:srgbClr val="8A8A8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04 / 08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aa563f3761172d4adc298f0c43b88f6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2805" y="761695"/>
            <a:ext cx="16383305" cy="9144"/>
          </a:xfrm>
          <a:prstGeom prst="rect">
            <a:avLst/>
          </a:prstGeom>
        </p:spPr>
      </p:pic>
      <p:pic>
        <p:nvPicPr>
          <p:cNvPr id="3" name="Image 1" descr="gen-dedup-0027c3c5f3cae63b5ca1e3146ac43493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952805" y="2809951"/>
            <a:ext cx="761695" cy="1920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333195" y="5667451"/>
            <a:ext cx="3810305" cy="629107"/>
          </a:xfrm>
          <a:prstGeom prst="rect">
            <a:avLst/>
          </a:prstGeom>
          <a:solidFill>
            <a:srgbClr val="FAF8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1"/>
          <p:cNvSpPr/>
          <p:nvPr/>
        </p:nvSpPr>
        <p:spPr>
          <a:xfrm>
            <a:off x="1333195" y="5667451"/>
            <a:ext cx="28346" cy="629107"/>
          </a:xfrm>
          <a:prstGeom prst="rect">
            <a:avLst/>
          </a:prstGeom>
          <a:solidFill>
            <a:srgbClr val="C9C4BD"/>
          </a:solidFill>
          <a:ln w="12700">
            <a:solidFill>
              <a:srgbClr val="C9C4B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/>
          <p:cNvSpPr/>
          <p:nvPr/>
        </p:nvSpPr>
        <p:spPr>
          <a:xfrm>
            <a:off x="5333695" y="5667451"/>
            <a:ext cx="3810305" cy="1086307"/>
          </a:xfrm>
          <a:prstGeom prst="rect">
            <a:avLst/>
          </a:prstGeom>
          <a:solidFill>
            <a:srgbClr val="FAF8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5333695" y="5667451"/>
            <a:ext cx="28346" cy="1086307"/>
          </a:xfrm>
          <a:prstGeom prst="rect">
            <a:avLst/>
          </a:prstGeom>
          <a:solidFill>
            <a:srgbClr val="4A2F1F"/>
          </a:solidFill>
          <a:ln w="12700">
            <a:solidFill>
              <a:srgbClr val="4A2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9334195" y="5667451"/>
            <a:ext cx="3810305" cy="629107"/>
          </a:xfrm>
          <a:prstGeom prst="rect">
            <a:avLst/>
          </a:prstGeom>
          <a:solidFill>
            <a:srgbClr val="FAF8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9334195" y="5667451"/>
            <a:ext cx="28346" cy="629107"/>
          </a:xfrm>
          <a:prstGeom prst="rect">
            <a:avLst/>
          </a:prstGeom>
          <a:solidFill>
            <a:srgbClr val="C9C4BD"/>
          </a:solidFill>
          <a:ln w="12700">
            <a:solidFill>
              <a:srgbClr val="C9C4B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13334695" y="5667451"/>
            <a:ext cx="3810305" cy="1086307"/>
          </a:xfrm>
          <a:prstGeom prst="rect">
            <a:avLst/>
          </a:prstGeom>
          <a:solidFill>
            <a:srgbClr val="4A2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2" descr="gen-dedup-332d4bd6ac51c0654c229e1e739141ae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952805" y="7334402"/>
            <a:ext cx="16383305" cy="9144"/>
          </a:xfrm>
          <a:prstGeom prst="rect">
            <a:avLst/>
          </a:prstGeom>
        </p:spPr>
      </p:pic>
      <p:pic>
        <p:nvPicPr>
          <p:cNvPr id="12" name="Image 3" descr="gen-dedup-332d4bd6ac51c0654c229e1e739141ae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952805" y="9810598"/>
            <a:ext cx="16383305" cy="9144"/>
          </a:xfrm>
          <a:prstGeom prst="rect">
            <a:avLst/>
          </a:prstGeom>
        </p:spPr>
      </p:pic>
      <p:pic>
        <p:nvPicPr>
          <p:cNvPr id="13" name="Image 4" descr="gen-dedup-110a22a40c6442c5795410e0cb1e1539.png"/>
          <p:cNvPicPr>
            <a:picLocks noChangeAspect="1"/>
          </p:cNvPicPr>
          <p:nvPr/>
        </p:nvPicPr>
        <p:blipFill>
          <a:blip r:embed="rId6"/>
          <a:srcRect t="-401" b="-401"/>
          <a:stretch/>
        </p:blipFill>
        <p:spPr>
          <a:xfrm>
            <a:off x="2190902" y="4095598"/>
            <a:ext cx="13906195" cy="19202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3143707" y="4009644"/>
            <a:ext cx="190195" cy="190195"/>
          </a:xfrm>
          <a:prstGeom prst="ellipse">
            <a:avLst/>
          </a:prstGeom>
          <a:solidFill>
            <a:srgbClr val="4A2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8"/>
          <p:cNvSpPr/>
          <p:nvPr/>
        </p:nvSpPr>
        <p:spPr>
          <a:xfrm>
            <a:off x="7144207" y="4009644"/>
            <a:ext cx="190195" cy="190195"/>
          </a:xfrm>
          <a:prstGeom prst="ellipse">
            <a:avLst/>
          </a:prstGeom>
          <a:solidFill>
            <a:srgbClr val="4A2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9"/>
          <p:cNvSpPr/>
          <p:nvPr/>
        </p:nvSpPr>
        <p:spPr>
          <a:xfrm>
            <a:off x="11144707" y="4009644"/>
            <a:ext cx="190195" cy="190195"/>
          </a:xfrm>
          <a:prstGeom prst="ellipse">
            <a:avLst/>
          </a:prstGeom>
          <a:solidFill>
            <a:srgbClr val="4A2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0"/>
          <p:cNvSpPr/>
          <p:nvPr/>
        </p:nvSpPr>
        <p:spPr>
          <a:xfrm>
            <a:off x="15145207" y="4009644"/>
            <a:ext cx="190195" cy="190195"/>
          </a:xfrm>
          <a:prstGeom prst="ellipse">
            <a:avLst/>
          </a:prstGeom>
          <a:solidFill>
            <a:srgbClr val="4A2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1"/>
          <p:cNvSpPr txBox="1"/>
          <p:nvPr/>
        </p:nvSpPr>
        <p:spPr>
          <a:xfrm>
            <a:off x="952805" y="952805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05 / 실행 로드맵 및 의사결정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952805" y="1181405"/>
            <a:ext cx="85725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kern="0" spc="135" dirty="0">
                <a:solidFill>
                  <a:srgbClr val="C9C4BD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EXECUTION ROADMAP</a:t>
            </a:r>
            <a:endParaRPr lang="en-US" sz="800" dirty="0"/>
          </a:p>
        </p:txBody>
      </p:sp>
      <p:sp>
        <p:nvSpPr>
          <p:cNvPr id="20" name="Text 13"/>
          <p:cNvSpPr txBox="1"/>
          <p:nvPr/>
        </p:nvSpPr>
        <p:spPr>
          <a:xfrm>
            <a:off x="13525805" y="952805"/>
            <a:ext cx="3810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98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HISBEANS · STORE MINI APP PLAN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952805" y="1714500"/>
            <a:ext cx="16383305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4단계로 추진하고, </a:t>
            </a:r>
            <a:r>
              <a:rPr lang="en-US" sz="3000" b="1" kern="0" spc="-75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2번의 의사결정</a:t>
            </a:r>
            <a:r>
              <a:rPr lang="en-US" sz="3000" b="1" kern="0" spc="-75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으로 방향을 확정합니다.</a:t>
            </a:r>
            <a:endParaRPr lang="en-US" sz="3000" dirty="0"/>
          </a:p>
        </p:txBody>
      </p:sp>
      <p:sp>
        <p:nvSpPr>
          <p:cNvPr id="22" name="Text 15"/>
          <p:cNvSpPr txBox="1"/>
          <p:nvPr/>
        </p:nvSpPr>
        <p:spPr>
          <a:xfrm>
            <a:off x="1333195" y="3238805"/>
            <a:ext cx="3810305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25" b="1" kern="0" spc="33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PHASE 01</a:t>
            </a:r>
            <a:endParaRPr lang="en-US" sz="825" dirty="0"/>
          </a:p>
        </p:txBody>
      </p:sp>
      <p:sp>
        <p:nvSpPr>
          <p:cNvPr id="23" name="Text 16"/>
          <p:cNvSpPr txBox="1"/>
          <p:nvPr/>
        </p:nvSpPr>
        <p:spPr>
          <a:xfrm>
            <a:off x="1333195" y="3390595"/>
            <a:ext cx="3810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kern="0" spc="-16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목적 재정의·설계</a:t>
            </a:r>
            <a:endParaRPr lang="en-US" sz="1650" dirty="0"/>
          </a:p>
        </p:txBody>
      </p:sp>
      <p:sp>
        <p:nvSpPr>
          <p:cNvPr id="24" name="Text 17"/>
          <p:cNvSpPr txBox="1"/>
          <p:nvPr/>
        </p:nvSpPr>
        <p:spPr>
          <a:xfrm>
            <a:off x="1333195" y="3676802"/>
            <a:ext cx="3810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1개월차 W1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1288898" y="4390034"/>
            <a:ext cx="3854602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ts val="1969"/>
              </a:lnSpc>
              <a:buSzPct val="100000"/>
              <a:buChar char="•"/>
            </a:pPr>
            <a:r>
              <a:rPr lang="en-US" sz="1125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목적 합의 (서사+행동 전환)</a:t>
            </a:r>
            <a:endParaRPr lang="en-US" sz="1125" dirty="0"/>
          </a:p>
          <a:p>
            <a:pPr marL="177800" indent="-177800" algn="l">
              <a:lnSpc>
                <a:spcPts val="1969"/>
              </a:lnSpc>
              <a:buSzPct val="100000"/>
              <a:buChar char="•"/>
            </a:pPr>
            <a:r>
              <a:rPr lang="en-US" sz="1125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매니저 사전 안내</a:t>
            </a:r>
            <a:endParaRPr lang="en-US" sz="1125" dirty="0"/>
          </a:p>
          <a:p>
            <a:pPr marL="177800" indent="-177800" algn="l">
              <a:lnSpc>
                <a:spcPts val="1969"/>
              </a:lnSpc>
              <a:buSzPct val="100000"/>
              <a:buChar char="•"/>
            </a:pPr>
            <a:r>
              <a:rPr lang="en-US" sz="1125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4단계 플로우·KPI 정의</a:t>
            </a:r>
            <a:endParaRPr lang="en-US" sz="1125" dirty="0"/>
          </a:p>
        </p:txBody>
      </p:sp>
      <p:sp>
        <p:nvSpPr>
          <p:cNvPr id="26" name="Text 19"/>
          <p:cNvSpPr txBox="1"/>
          <p:nvPr/>
        </p:nvSpPr>
        <p:spPr>
          <a:xfrm>
            <a:off x="1580998" y="5790895"/>
            <a:ext cx="342900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결과</a:t>
            </a:r>
            <a:endParaRPr lang="en-US" sz="825" dirty="0"/>
          </a:p>
        </p:txBody>
      </p:sp>
      <p:sp>
        <p:nvSpPr>
          <p:cNvPr id="27" name="Text 20"/>
          <p:cNvSpPr txBox="1"/>
          <p:nvPr/>
        </p:nvSpPr>
        <p:spPr>
          <a:xfrm>
            <a:off x="1580998" y="5952744"/>
            <a:ext cx="3429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목적 합의안 · 화면설계서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5333695" y="3238805"/>
            <a:ext cx="3810305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25" b="1" kern="0" spc="33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PHASE 02</a:t>
            </a:r>
            <a:endParaRPr lang="en-US" sz="825" dirty="0"/>
          </a:p>
        </p:txBody>
      </p:sp>
      <p:sp>
        <p:nvSpPr>
          <p:cNvPr id="29" name="Text 22"/>
          <p:cNvSpPr txBox="1"/>
          <p:nvPr/>
        </p:nvSpPr>
        <p:spPr>
          <a:xfrm>
            <a:off x="5333695" y="3390595"/>
            <a:ext cx="3810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kern="0" spc="-16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콘텐츠·MVP 구축</a:t>
            </a:r>
            <a:endParaRPr lang="en-US" sz="1650" dirty="0"/>
          </a:p>
        </p:txBody>
      </p:sp>
      <p:sp>
        <p:nvSpPr>
          <p:cNvPr id="30" name="Text 23"/>
          <p:cNvSpPr txBox="1"/>
          <p:nvPr/>
        </p:nvSpPr>
        <p:spPr>
          <a:xfrm>
            <a:off x="5333695" y="3676802"/>
            <a:ext cx="3810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1개월차 W2~W3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5289398" y="4390034"/>
            <a:ext cx="3854602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ts val="1969"/>
              </a:lnSpc>
              <a:buSzPct val="100000"/>
              <a:buChar char="•"/>
            </a:pPr>
            <a:r>
              <a:rPr lang="en-US" sz="1125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바리스타 인터뷰·동의</a:t>
            </a:r>
            <a:endParaRPr lang="en-US" sz="1125" dirty="0"/>
          </a:p>
          <a:p>
            <a:pPr marL="177800" indent="-177800" algn="l">
              <a:lnSpc>
                <a:spcPts val="1969"/>
              </a:lnSpc>
              <a:buSzPct val="100000"/>
              <a:buChar char="•"/>
            </a:pPr>
            <a:r>
              <a:rPr lang="en-US" sz="1125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리뷰+보상+서사 카드 구현</a:t>
            </a:r>
            <a:endParaRPr lang="en-US" sz="1125" dirty="0"/>
          </a:p>
          <a:p>
            <a:pPr marL="177800" indent="-177800" algn="l">
              <a:lnSpc>
                <a:spcPts val="1969"/>
              </a:lnSpc>
              <a:buSzPct val="100000"/>
              <a:buChar char="•"/>
            </a:pPr>
            <a:r>
              <a:rPr lang="en-US" sz="1125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QR/NFC 제작·QA</a:t>
            </a:r>
            <a:endParaRPr lang="en-US" sz="1125" dirty="0"/>
          </a:p>
        </p:txBody>
      </p:sp>
      <p:sp>
        <p:nvSpPr>
          <p:cNvPr id="32" name="Text 25"/>
          <p:cNvSpPr txBox="1"/>
          <p:nvPr/>
        </p:nvSpPr>
        <p:spPr>
          <a:xfrm>
            <a:off x="5581498" y="5790895"/>
            <a:ext cx="342900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◆ 의사결정 01</a:t>
            </a:r>
            <a:endParaRPr lang="en-US" sz="825" dirty="0"/>
          </a:p>
        </p:txBody>
      </p:sp>
      <p:sp>
        <p:nvSpPr>
          <p:cNvPr id="33" name="Text 26"/>
          <p:cNvSpPr txBox="1"/>
          <p:nvPr/>
        </p:nvSpPr>
        <p:spPr>
          <a:xfrm>
            <a:off x="5581498" y="5971946"/>
            <a:ext cx="3429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미니앱 목적 재정의에 합의하는가?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5581498" y="6254496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8A8A8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결과 · </a:t>
            </a:r>
            <a:r>
              <a:rPr lang="en-US" sz="975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합의 시 MVP 착수</a:t>
            </a:r>
            <a:endParaRPr lang="en-US" sz="975" dirty="0"/>
          </a:p>
        </p:txBody>
      </p:sp>
      <p:sp>
        <p:nvSpPr>
          <p:cNvPr id="35" name="Text 28"/>
          <p:cNvSpPr txBox="1"/>
          <p:nvPr/>
        </p:nvSpPr>
        <p:spPr>
          <a:xfrm>
            <a:off x="9334195" y="3238805"/>
            <a:ext cx="3810305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25" b="1" kern="0" spc="33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PHASE 03</a:t>
            </a:r>
            <a:endParaRPr lang="en-US" sz="825" dirty="0"/>
          </a:p>
        </p:txBody>
      </p:sp>
      <p:sp>
        <p:nvSpPr>
          <p:cNvPr id="36" name="Text 29"/>
          <p:cNvSpPr txBox="1"/>
          <p:nvPr/>
        </p:nvSpPr>
        <p:spPr>
          <a:xfrm>
            <a:off x="9334195" y="3390595"/>
            <a:ext cx="3810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kern="0" spc="-16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4주 파일럿</a:t>
            </a:r>
            <a:endParaRPr lang="en-US" sz="1650" dirty="0"/>
          </a:p>
        </p:txBody>
      </p:sp>
      <p:sp>
        <p:nvSpPr>
          <p:cNvPr id="37" name="Text 30"/>
          <p:cNvSpPr txBox="1"/>
          <p:nvPr/>
        </p:nvSpPr>
        <p:spPr>
          <a:xfrm>
            <a:off x="9334195" y="3676802"/>
            <a:ext cx="3810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1개월차 W4~2개월차 W3</a:t>
            </a:r>
            <a:endParaRPr 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9289898" y="4390034"/>
            <a:ext cx="3854602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ts val="1969"/>
              </a:lnSpc>
              <a:buSzPct val="100000"/>
              <a:buChar char="•"/>
            </a:pPr>
            <a:r>
              <a:rPr lang="en-US" sz="1125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명동·서울시청점 테이블 부착</a:t>
            </a:r>
            <a:endParaRPr lang="en-US" sz="1125" dirty="0"/>
          </a:p>
          <a:p>
            <a:pPr marL="177800" indent="-177800" algn="l">
              <a:lnSpc>
                <a:spcPts val="1969"/>
              </a:lnSpc>
              <a:buSzPct val="100000"/>
              <a:buChar char="•"/>
            </a:pPr>
            <a:r>
              <a:rPr lang="en-US" sz="1125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주간 지표 A~D 점검</a:t>
            </a:r>
            <a:endParaRPr lang="en-US" sz="1125" dirty="0"/>
          </a:p>
          <a:p>
            <a:pPr marL="177800" indent="-177800" algn="l">
              <a:lnSpc>
                <a:spcPts val="1969"/>
              </a:lnSpc>
              <a:buSzPct val="100000"/>
              <a:buChar char="•"/>
            </a:pPr>
            <a:r>
              <a:rPr lang="en-US" sz="1125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현장 피드백 반영</a:t>
            </a:r>
            <a:endParaRPr lang="en-US" sz="1125" dirty="0"/>
          </a:p>
        </p:txBody>
      </p:sp>
      <p:sp>
        <p:nvSpPr>
          <p:cNvPr id="39" name="Text 32"/>
          <p:cNvSpPr txBox="1"/>
          <p:nvPr/>
        </p:nvSpPr>
        <p:spPr>
          <a:xfrm>
            <a:off x="9581998" y="5790895"/>
            <a:ext cx="342900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결과</a:t>
            </a:r>
            <a:endParaRPr lang="en-US" sz="825" dirty="0"/>
          </a:p>
        </p:txBody>
      </p:sp>
      <p:sp>
        <p:nvSpPr>
          <p:cNvPr id="40" name="Text 33"/>
          <p:cNvSpPr txBox="1"/>
          <p:nvPr/>
        </p:nvSpPr>
        <p:spPr>
          <a:xfrm>
            <a:off x="9581998" y="5952744"/>
            <a:ext cx="3429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4주 KPI 데이터 (지표 A~D)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4695" y="3238805"/>
            <a:ext cx="3810305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25" b="1" kern="0" spc="33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PHASE 04</a:t>
            </a:r>
            <a:endParaRPr lang="en-US" sz="825" dirty="0"/>
          </a:p>
        </p:txBody>
      </p:sp>
      <p:sp>
        <p:nvSpPr>
          <p:cNvPr id="42" name="Text 35"/>
          <p:cNvSpPr txBox="1"/>
          <p:nvPr/>
        </p:nvSpPr>
        <p:spPr>
          <a:xfrm>
            <a:off x="13334695" y="3390595"/>
            <a:ext cx="3810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kern="0" spc="-16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결과 판정</a:t>
            </a:r>
            <a:endParaRPr lang="en-US" sz="1650" dirty="0"/>
          </a:p>
        </p:txBody>
      </p:sp>
      <p:sp>
        <p:nvSpPr>
          <p:cNvPr id="43" name="Text 36"/>
          <p:cNvSpPr txBox="1"/>
          <p:nvPr/>
        </p:nvSpPr>
        <p:spPr>
          <a:xfrm>
            <a:off x="13334695" y="3676802"/>
            <a:ext cx="3810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2개월차 W4</a:t>
            </a:r>
            <a:endParaRPr lang="en-US" sz="900" dirty="0"/>
          </a:p>
        </p:txBody>
      </p:sp>
      <p:sp>
        <p:nvSpPr>
          <p:cNvPr id="44" name="Text 37"/>
          <p:cNvSpPr txBox="1"/>
          <p:nvPr/>
        </p:nvSpPr>
        <p:spPr>
          <a:xfrm>
            <a:off x="13290398" y="4390034"/>
            <a:ext cx="3854602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ts val="1969"/>
              </a:lnSpc>
              <a:buSzPct val="100000"/>
              <a:buChar char="•"/>
            </a:pPr>
            <a:r>
              <a:rPr lang="en-US" sz="1125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실패 판정 기준 대조</a:t>
            </a:r>
            <a:endParaRPr lang="en-US" sz="1125" dirty="0"/>
          </a:p>
          <a:p>
            <a:pPr marL="177800" indent="-177800" algn="l">
              <a:lnSpc>
                <a:spcPts val="1969"/>
              </a:lnSpc>
              <a:buSzPct val="100000"/>
              <a:buChar char="•"/>
            </a:pPr>
            <a:r>
              <a:rPr lang="en-US" sz="1125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POS 매출 전후 비교</a:t>
            </a:r>
            <a:endParaRPr lang="en-US" sz="1125" dirty="0"/>
          </a:p>
          <a:p>
            <a:pPr marL="177800" indent="-177800" algn="l">
              <a:lnSpc>
                <a:spcPts val="1969"/>
              </a:lnSpc>
              <a:buSzPct val="100000"/>
              <a:buChar char="•"/>
            </a:pPr>
            <a:r>
              <a:rPr lang="en-US" sz="1125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확장 범위 제안</a:t>
            </a:r>
            <a:endParaRPr lang="en-US" sz="1125" dirty="0"/>
          </a:p>
        </p:txBody>
      </p:sp>
      <p:sp>
        <p:nvSpPr>
          <p:cNvPr id="45" name="Text 38"/>
          <p:cNvSpPr txBox="1"/>
          <p:nvPr/>
        </p:nvSpPr>
        <p:spPr>
          <a:xfrm>
            <a:off x="13582498" y="5790895"/>
            <a:ext cx="342900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EFE6DE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◆ 의사결정 02</a:t>
            </a:r>
            <a:endParaRPr lang="en-US" sz="825" dirty="0"/>
          </a:p>
        </p:txBody>
      </p:sp>
      <p:sp>
        <p:nvSpPr>
          <p:cNvPr id="46" name="Text 39"/>
          <p:cNvSpPr txBox="1"/>
          <p:nvPr/>
        </p:nvSpPr>
        <p:spPr>
          <a:xfrm>
            <a:off x="13582498" y="5971946"/>
            <a:ext cx="3429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자문운영점(2단계)으로 확장하는가?</a:t>
            </a:r>
            <a:endParaRPr lang="en-US" sz="1200" dirty="0"/>
          </a:p>
        </p:txBody>
      </p:sp>
      <p:sp>
        <p:nvSpPr>
          <p:cNvPr id="47" name="Text 40"/>
          <p:cNvSpPr txBox="1"/>
          <p:nvPr/>
        </p:nvSpPr>
        <p:spPr>
          <a:xfrm>
            <a:off x="13582498" y="6254496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EFE6DE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결과 · </a:t>
            </a:r>
            <a:r>
              <a:rPr lang="en-US" sz="975" dirty="0">
                <a:solidFill>
                  <a:srgbClr val="FFFFFF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실패 기준 미해당 시 확장</a:t>
            </a:r>
            <a:endParaRPr lang="en-US" sz="975" dirty="0"/>
          </a:p>
        </p:txBody>
      </p:sp>
      <p:sp>
        <p:nvSpPr>
          <p:cNvPr id="48" name="Text 41"/>
          <p:cNvSpPr txBox="1"/>
          <p:nvPr/>
        </p:nvSpPr>
        <p:spPr>
          <a:xfrm>
            <a:off x="952805" y="7572146"/>
            <a:ext cx="5715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0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의사결정 기준</a:t>
            </a:r>
            <a:endParaRPr lang="en-US" sz="975" dirty="0"/>
          </a:p>
        </p:txBody>
      </p:sp>
      <p:sp>
        <p:nvSpPr>
          <p:cNvPr id="49" name="Text 42"/>
          <p:cNvSpPr txBox="1"/>
          <p:nvPr/>
        </p:nvSpPr>
        <p:spPr>
          <a:xfrm>
            <a:off x="952805" y="7744054"/>
            <a:ext cx="5715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8A8A8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아래 4가지 기준을 모두 검토합니다.</a:t>
            </a:r>
            <a:endParaRPr lang="en-US" sz="975" dirty="0"/>
          </a:p>
        </p:txBody>
      </p:sp>
      <p:sp>
        <p:nvSpPr>
          <p:cNvPr id="50" name="Shape 43"/>
          <p:cNvSpPr/>
          <p:nvPr/>
        </p:nvSpPr>
        <p:spPr>
          <a:xfrm>
            <a:off x="6953098" y="7619695"/>
            <a:ext cx="2428646" cy="19202"/>
          </a:xfrm>
          <a:prstGeom prst="rect">
            <a:avLst/>
          </a:prstGeom>
          <a:solidFill>
            <a:srgbClr val="4A2F1F"/>
          </a:solidFill>
          <a:ln w="12700">
            <a:solidFill>
              <a:srgbClr val="4A2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4"/>
          <p:cNvSpPr txBox="1"/>
          <p:nvPr/>
        </p:nvSpPr>
        <p:spPr>
          <a:xfrm>
            <a:off x="6953098" y="7753198"/>
            <a:ext cx="24295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01</a:t>
            </a:r>
            <a:endParaRPr lang="en-US" sz="900" dirty="0"/>
          </a:p>
        </p:txBody>
      </p:sp>
      <p:sp>
        <p:nvSpPr>
          <p:cNvPr id="52" name="Text 45"/>
          <p:cNvSpPr txBox="1"/>
          <p:nvPr/>
        </p:nvSpPr>
        <p:spPr>
          <a:xfrm>
            <a:off x="6953098" y="7944307"/>
            <a:ext cx="242956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A. 진입장벽</a:t>
            </a:r>
            <a:endParaRPr lang="en-US" sz="1200" dirty="0"/>
          </a:p>
        </p:txBody>
      </p:sp>
      <p:sp>
        <p:nvSpPr>
          <p:cNvPr id="53" name="Text 46"/>
          <p:cNvSpPr txBox="1"/>
          <p:nvPr/>
        </p:nvSpPr>
        <p:spPr>
          <a:xfrm>
            <a:off x="6953098" y="8162849"/>
            <a:ext cx="242956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QR 스캔률 5% 미만이면 실패</a:t>
            </a:r>
            <a:endParaRPr lang="en-US" sz="975" dirty="0"/>
          </a:p>
        </p:txBody>
      </p:sp>
      <p:sp>
        <p:nvSpPr>
          <p:cNvPr id="54" name="Shape 47"/>
          <p:cNvSpPr/>
          <p:nvPr/>
        </p:nvSpPr>
        <p:spPr>
          <a:xfrm>
            <a:off x="9605772" y="7619695"/>
            <a:ext cx="2428646" cy="19202"/>
          </a:xfrm>
          <a:prstGeom prst="rect">
            <a:avLst/>
          </a:prstGeom>
          <a:solidFill>
            <a:srgbClr val="4A2F1F"/>
          </a:solidFill>
          <a:ln w="12700">
            <a:solidFill>
              <a:srgbClr val="4A2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48"/>
          <p:cNvSpPr txBox="1"/>
          <p:nvPr/>
        </p:nvSpPr>
        <p:spPr>
          <a:xfrm>
            <a:off x="9605772" y="7753198"/>
            <a:ext cx="24295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02</a:t>
            </a:r>
            <a:endParaRPr lang="en-US" sz="900" dirty="0"/>
          </a:p>
        </p:txBody>
      </p:sp>
      <p:sp>
        <p:nvSpPr>
          <p:cNvPr id="56" name="Text 49"/>
          <p:cNvSpPr txBox="1"/>
          <p:nvPr/>
        </p:nvSpPr>
        <p:spPr>
          <a:xfrm>
            <a:off x="9605772" y="7944307"/>
            <a:ext cx="242956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B. 리뷰 효과</a:t>
            </a:r>
            <a:endParaRPr lang="en-US" sz="1200" dirty="0"/>
          </a:p>
        </p:txBody>
      </p:sp>
      <p:sp>
        <p:nvSpPr>
          <p:cNvPr id="57" name="Text 50"/>
          <p:cNvSpPr txBox="1"/>
          <p:nvPr/>
        </p:nvSpPr>
        <p:spPr>
          <a:xfrm>
            <a:off x="9605772" y="8162849"/>
            <a:ext cx="242956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리뷰 증가율 10% 미만이면 실패</a:t>
            </a:r>
            <a:endParaRPr lang="en-US" sz="975" dirty="0"/>
          </a:p>
        </p:txBody>
      </p:sp>
      <p:sp>
        <p:nvSpPr>
          <p:cNvPr id="58" name="Shape 51"/>
          <p:cNvSpPr/>
          <p:nvPr/>
        </p:nvSpPr>
        <p:spPr>
          <a:xfrm>
            <a:off x="12258446" y="7619695"/>
            <a:ext cx="2428646" cy="19202"/>
          </a:xfrm>
          <a:prstGeom prst="rect">
            <a:avLst/>
          </a:prstGeom>
          <a:solidFill>
            <a:srgbClr val="4A2F1F"/>
          </a:solidFill>
          <a:ln w="12700">
            <a:solidFill>
              <a:srgbClr val="4A2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2"/>
          <p:cNvSpPr txBox="1"/>
          <p:nvPr/>
        </p:nvSpPr>
        <p:spPr>
          <a:xfrm>
            <a:off x="12258446" y="7753198"/>
            <a:ext cx="24295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03</a:t>
            </a:r>
            <a:endParaRPr lang="en-US" sz="900" dirty="0"/>
          </a:p>
        </p:txBody>
      </p:sp>
      <p:sp>
        <p:nvSpPr>
          <p:cNvPr id="60" name="Text 53"/>
          <p:cNvSpPr txBox="1"/>
          <p:nvPr/>
        </p:nvSpPr>
        <p:spPr>
          <a:xfrm>
            <a:off x="12258446" y="7944307"/>
            <a:ext cx="242956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C. 보상 전환</a:t>
            </a:r>
            <a:endParaRPr lang="en-US" sz="1200" dirty="0"/>
          </a:p>
        </p:txBody>
      </p:sp>
      <p:sp>
        <p:nvSpPr>
          <p:cNvPr id="61" name="Text 54"/>
          <p:cNvSpPr txBox="1"/>
          <p:nvPr/>
        </p:nvSpPr>
        <p:spPr>
          <a:xfrm>
            <a:off x="12258446" y="8162849"/>
            <a:ext cx="242956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쿠폰 사용률 5% 미만이면 실패</a:t>
            </a:r>
            <a:endParaRPr lang="en-US" sz="975" dirty="0"/>
          </a:p>
        </p:txBody>
      </p:sp>
      <p:sp>
        <p:nvSpPr>
          <p:cNvPr id="62" name="Shape 55"/>
          <p:cNvSpPr/>
          <p:nvPr/>
        </p:nvSpPr>
        <p:spPr>
          <a:xfrm>
            <a:off x="14911121" y="7619695"/>
            <a:ext cx="2428646" cy="19202"/>
          </a:xfrm>
          <a:prstGeom prst="rect">
            <a:avLst/>
          </a:prstGeom>
          <a:solidFill>
            <a:srgbClr val="4A2F1F"/>
          </a:solidFill>
          <a:ln w="12700">
            <a:solidFill>
              <a:srgbClr val="4A2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56"/>
          <p:cNvSpPr txBox="1"/>
          <p:nvPr/>
        </p:nvSpPr>
        <p:spPr>
          <a:xfrm>
            <a:off x="14911121" y="7753198"/>
            <a:ext cx="24295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04</a:t>
            </a:r>
            <a:endParaRPr lang="en-US" sz="900" dirty="0"/>
          </a:p>
        </p:txBody>
      </p:sp>
      <p:sp>
        <p:nvSpPr>
          <p:cNvPr id="64" name="Text 57"/>
          <p:cNvSpPr txBox="1"/>
          <p:nvPr/>
        </p:nvSpPr>
        <p:spPr>
          <a:xfrm>
            <a:off x="14911121" y="7944307"/>
            <a:ext cx="242956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D. 서사 전달</a:t>
            </a:r>
            <a:endParaRPr lang="en-US" sz="1200" dirty="0"/>
          </a:p>
        </p:txBody>
      </p:sp>
      <p:sp>
        <p:nvSpPr>
          <p:cNvPr id="65" name="Text 58"/>
          <p:cNvSpPr txBox="1"/>
          <p:nvPr/>
        </p:nvSpPr>
        <p:spPr>
          <a:xfrm>
            <a:off x="14911121" y="8162849"/>
            <a:ext cx="242956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카드 열람 완료율 20% 미만이면 실패</a:t>
            </a:r>
            <a:endParaRPr lang="en-US" sz="975" dirty="0"/>
          </a:p>
        </p:txBody>
      </p:sp>
      <p:sp>
        <p:nvSpPr>
          <p:cNvPr id="66" name="Text 59"/>
          <p:cNvSpPr txBox="1"/>
          <p:nvPr/>
        </p:nvSpPr>
        <p:spPr>
          <a:xfrm>
            <a:off x="952805" y="9191549"/>
            <a:ext cx="16383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운영 원칙 │ </a:t>
            </a:r>
            <a:r>
              <a:rPr lang="en-US" sz="900" b="1" kern="0" spc="9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실패 판정 기준을 사전에 명시하고 범위를 직영 2개점 · 4주로 제한해 손실을 통제합니다.</a:t>
            </a:r>
            <a:endParaRPr lang="en-US" sz="900" dirty="0"/>
          </a:p>
        </p:txBody>
      </p:sp>
      <p:sp>
        <p:nvSpPr>
          <p:cNvPr id="67" name="Text 60"/>
          <p:cNvSpPr txBox="1"/>
          <p:nvPr/>
        </p:nvSpPr>
        <p:spPr>
          <a:xfrm>
            <a:off x="952805" y="9982505"/>
            <a:ext cx="857250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HISBEANS / 매장 미니앱 기획서</a:t>
            </a:r>
            <a:endParaRPr lang="en-US" sz="825" dirty="0"/>
          </a:p>
        </p:txBody>
      </p:sp>
      <p:sp>
        <p:nvSpPr>
          <p:cNvPr id="68" name="Text 61"/>
          <p:cNvSpPr txBox="1"/>
          <p:nvPr/>
        </p:nvSpPr>
        <p:spPr>
          <a:xfrm>
            <a:off x="15430500" y="9982505"/>
            <a:ext cx="190561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825" kern="0" spc="83" dirty="0">
                <a:solidFill>
                  <a:srgbClr val="8A8A8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05 / 08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aa563f3761172d4adc298f0c43b88f6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2805" y="761695"/>
            <a:ext cx="16383305" cy="9144"/>
          </a:xfrm>
          <a:prstGeom prst="rect">
            <a:avLst/>
          </a:prstGeom>
        </p:spPr>
      </p:pic>
      <p:pic>
        <p:nvPicPr>
          <p:cNvPr id="3" name="Image 1" descr="gen-dedup-0027c3c5f3cae63b5ca1e3146ac43493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952805" y="2667305"/>
            <a:ext cx="761695" cy="19202"/>
          </a:xfrm>
          <a:prstGeom prst="rect">
            <a:avLst/>
          </a:prstGeom>
        </p:spPr>
      </p:pic>
      <p:pic>
        <p:nvPicPr>
          <p:cNvPr id="4" name="Image 2" descr="gen-dedup-170522212a245f7dae60b72557fdc020.png"/>
          <p:cNvPicPr>
            <a:picLocks noChangeAspect="1"/>
          </p:cNvPicPr>
          <p:nvPr/>
        </p:nvPicPr>
        <p:blipFill>
          <a:blip r:embed="rId5"/>
          <a:srcRect t="-2089" b="-2089"/>
          <a:stretch/>
        </p:blipFill>
        <p:spPr>
          <a:xfrm>
            <a:off x="6086246" y="3476549"/>
            <a:ext cx="9144" cy="3810305"/>
          </a:xfrm>
          <a:prstGeom prst="rect">
            <a:avLst/>
          </a:prstGeom>
        </p:spPr>
      </p:pic>
      <p:pic>
        <p:nvPicPr>
          <p:cNvPr id="5" name="Image 3" descr="gen-dedup-170522212a245f7dae60b72557fdc020.png"/>
          <p:cNvPicPr>
            <a:picLocks noChangeAspect="1"/>
          </p:cNvPicPr>
          <p:nvPr/>
        </p:nvPicPr>
        <p:blipFill>
          <a:blip r:embed="rId5"/>
          <a:srcRect t="-2089" b="-2089"/>
          <a:stretch/>
        </p:blipFill>
        <p:spPr>
          <a:xfrm>
            <a:off x="7686446" y="3476549"/>
            <a:ext cx="9144" cy="3810305"/>
          </a:xfrm>
          <a:prstGeom prst="rect">
            <a:avLst/>
          </a:prstGeom>
        </p:spPr>
      </p:pic>
      <p:pic>
        <p:nvPicPr>
          <p:cNvPr id="6" name="Image 4" descr="gen-dedup-170522212a245f7dae60b72557fdc020.png"/>
          <p:cNvPicPr>
            <a:picLocks noChangeAspect="1"/>
          </p:cNvPicPr>
          <p:nvPr/>
        </p:nvPicPr>
        <p:blipFill>
          <a:blip r:embed="rId5"/>
          <a:srcRect t="-2089" b="-2089"/>
          <a:stretch/>
        </p:blipFill>
        <p:spPr>
          <a:xfrm>
            <a:off x="9296705" y="3476549"/>
            <a:ext cx="9144" cy="3810305"/>
          </a:xfrm>
          <a:prstGeom prst="rect">
            <a:avLst/>
          </a:prstGeom>
        </p:spPr>
      </p:pic>
      <p:pic>
        <p:nvPicPr>
          <p:cNvPr id="7" name="Image 5" descr="gen-dedup-170522212a245f7dae60b72557fdc020.png"/>
          <p:cNvPicPr>
            <a:picLocks noChangeAspect="1"/>
          </p:cNvPicPr>
          <p:nvPr/>
        </p:nvPicPr>
        <p:blipFill>
          <a:blip r:embed="rId5"/>
          <a:srcRect t="-2089" b="-2089"/>
          <a:stretch/>
        </p:blipFill>
        <p:spPr>
          <a:xfrm>
            <a:off x="12516307" y="3476549"/>
            <a:ext cx="9144" cy="3810305"/>
          </a:xfrm>
          <a:prstGeom prst="rect">
            <a:avLst/>
          </a:prstGeom>
        </p:spPr>
      </p:pic>
      <p:pic>
        <p:nvPicPr>
          <p:cNvPr id="8" name="Image 6" descr="gen-dedup-170522212a245f7dae60b72557fdc020.png"/>
          <p:cNvPicPr>
            <a:picLocks noChangeAspect="1"/>
          </p:cNvPicPr>
          <p:nvPr/>
        </p:nvPicPr>
        <p:blipFill>
          <a:blip r:embed="rId5"/>
          <a:srcRect t="-2089" b="-2089"/>
          <a:stretch/>
        </p:blipFill>
        <p:spPr>
          <a:xfrm>
            <a:off x="14116507" y="3476549"/>
            <a:ext cx="9144" cy="3810305"/>
          </a:xfrm>
          <a:prstGeom prst="rect">
            <a:avLst/>
          </a:prstGeom>
        </p:spPr>
      </p:pic>
      <p:pic>
        <p:nvPicPr>
          <p:cNvPr id="9" name="Image 7" descr="gen-dedup-170522212a245f7dae60b72557fdc020.png"/>
          <p:cNvPicPr>
            <a:picLocks noChangeAspect="1"/>
          </p:cNvPicPr>
          <p:nvPr/>
        </p:nvPicPr>
        <p:blipFill>
          <a:blip r:embed="rId5"/>
          <a:srcRect t="-2089" b="-2089"/>
          <a:stretch/>
        </p:blipFill>
        <p:spPr>
          <a:xfrm>
            <a:off x="15725851" y="3476549"/>
            <a:ext cx="9144" cy="3810305"/>
          </a:xfrm>
          <a:prstGeom prst="rect">
            <a:avLst/>
          </a:prstGeom>
        </p:spPr>
      </p:pic>
      <p:pic>
        <p:nvPicPr>
          <p:cNvPr id="10" name="Image 8" descr="gen-dedup-99e8506c810993dab4b6c24bf3d86c69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952805" y="3810305"/>
            <a:ext cx="16383305" cy="9144"/>
          </a:xfrm>
          <a:prstGeom prst="rect">
            <a:avLst/>
          </a:prstGeom>
        </p:spPr>
      </p:pic>
      <p:pic>
        <p:nvPicPr>
          <p:cNvPr id="11" name="Image 9" descr="gen-dedup-99e8506c810993dab4b6c24bf3d86c69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952805" y="4304995"/>
            <a:ext cx="16383305" cy="9144"/>
          </a:xfrm>
          <a:prstGeom prst="rect">
            <a:avLst/>
          </a:prstGeom>
        </p:spPr>
      </p:pic>
      <p:pic>
        <p:nvPicPr>
          <p:cNvPr id="12" name="Image 10" descr="gen-dedup-99e8506c810993dab4b6c24bf3d86c69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952805" y="4800600"/>
            <a:ext cx="16383305" cy="9144"/>
          </a:xfrm>
          <a:prstGeom prst="rect">
            <a:avLst/>
          </a:prstGeom>
        </p:spPr>
      </p:pic>
      <p:pic>
        <p:nvPicPr>
          <p:cNvPr id="13" name="Image 11" descr="gen-dedup-99e8506c810993dab4b6c24bf3d86c69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952805" y="5296205"/>
            <a:ext cx="16383305" cy="9144"/>
          </a:xfrm>
          <a:prstGeom prst="rect">
            <a:avLst/>
          </a:prstGeom>
        </p:spPr>
      </p:pic>
      <p:pic>
        <p:nvPicPr>
          <p:cNvPr id="14" name="Image 12" descr="gen-dedup-99e8506c810993dab4b6c24bf3d86c69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952805" y="5790895"/>
            <a:ext cx="16383305" cy="9144"/>
          </a:xfrm>
          <a:prstGeom prst="rect">
            <a:avLst/>
          </a:prstGeom>
        </p:spPr>
      </p:pic>
      <p:pic>
        <p:nvPicPr>
          <p:cNvPr id="15" name="Image 13" descr="gen-dedup-99e8506c810993dab4b6c24bf3d86c69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952805" y="6286500"/>
            <a:ext cx="16383305" cy="9144"/>
          </a:xfrm>
          <a:prstGeom prst="rect">
            <a:avLst/>
          </a:prstGeom>
        </p:spPr>
      </p:pic>
      <p:pic>
        <p:nvPicPr>
          <p:cNvPr id="16" name="Image 14" descr="gen-dedup-faa563f3761172d4adc298f0c43b88f6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2805" y="6782105"/>
            <a:ext cx="16383305" cy="9144"/>
          </a:xfrm>
          <a:prstGeom prst="rect">
            <a:avLst/>
          </a:prstGeom>
        </p:spPr>
      </p:pic>
      <p:pic>
        <p:nvPicPr>
          <p:cNvPr id="17" name="Image 15" descr="gen-dedup-332d4bd6ac51c0654c229e1e739141ae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952805" y="9810598"/>
            <a:ext cx="16383305" cy="9144"/>
          </a:xfrm>
          <a:prstGeom prst="rect">
            <a:avLst/>
          </a:prstGeom>
        </p:spPr>
      </p:pic>
      <p:sp>
        <p:nvSpPr>
          <p:cNvPr id="18" name="Shape 0"/>
          <p:cNvSpPr/>
          <p:nvPr/>
        </p:nvSpPr>
        <p:spPr>
          <a:xfrm>
            <a:off x="952805" y="2905049"/>
            <a:ext cx="16383305" cy="323698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"/>
          <p:cNvSpPr/>
          <p:nvPr/>
        </p:nvSpPr>
        <p:spPr>
          <a:xfrm>
            <a:off x="952805" y="3228746"/>
            <a:ext cx="16383305" cy="247802"/>
          </a:xfrm>
          <a:prstGeom prst="rect">
            <a:avLst/>
          </a:prstGeom>
          <a:solidFill>
            <a:srgbClr val="FAF8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16" descr="gen-dedup-83af2223b55a4b661a5e49287df3bd2d.png"/>
          <p:cNvPicPr>
            <a:picLocks noChangeAspect="1"/>
          </p:cNvPicPr>
          <p:nvPr/>
        </p:nvPicPr>
        <p:blipFill>
          <a:blip r:embed="rId8"/>
          <a:srcRect t="-2089" b="-2089"/>
          <a:stretch/>
        </p:blipFill>
        <p:spPr>
          <a:xfrm>
            <a:off x="3143707" y="3476549"/>
            <a:ext cx="9144" cy="3810305"/>
          </a:xfrm>
          <a:prstGeom prst="rect">
            <a:avLst/>
          </a:prstGeom>
        </p:spPr>
      </p:pic>
      <p:pic>
        <p:nvPicPr>
          <p:cNvPr id="21" name="Image 17" descr="gen-dedup-83af2223b55a4b661a5e49287df3bd2d.png"/>
          <p:cNvPicPr>
            <a:picLocks noChangeAspect="1"/>
          </p:cNvPicPr>
          <p:nvPr/>
        </p:nvPicPr>
        <p:blipFill>
          <a:blip r:embed="rId8"/>
          <a:srcRect t="-2089" b="-2089"/>
          <a:stretch/>
        </p:blipFill>
        <p:spPr>
          <a:xfrm>
            <a:off x="4476902" y="3476549"/>
            <a:ext cx="9144" cy="3810305"/>
          </a:xfrm>
          <a:prstGeom prst="rect">
            <a:avLst/>
          </a:prstGeom>
        </p:spPr>
      </p:pic>
      <p:pic>
        <p:nvPicPr>
          <p:cNvPr id="22" name="Image 18" descr="gen-dedup-c4704e084a4a572ff7b54bcccee58fe0.png"/>
          <p:cNvPicPr>
            <a:picLocks noChangeAspect="1"/>
          </p:cNvPicPr>
          <p:nvPr/>
        </p:nvPicPr>
        <p:blipFill>
          <a:blip r:embed="rId9"/>
          <a:srcRect t="-2089" b="-2089"/>
          <a:stretch/>
        </p:blipFill>
        <p:spPr>
          <a:xfrm>
            <a:off x="10906049" y="2905049"/>
            <a:ext cx="9144" cy="4381805"/>
          </a:xfrm>
          <a:prstGeom prst="rect">
            <a:avLst/>
          </a:prstGeom>
        </p:spPr>
      </p:pic>
      <p:sp>
        <p:nvSpPr>
          <p:cNvPr id="24" name="Text 3"/>
          <p:cNvSpPr txBox="1"/>
          <p:nvPr/>
        </p:nvSpPr>
        <p:spPr>
          <a:xfrm>
            <a:off x="952805" y="952805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06 / 8주 실행계획</a:t>
            </a:r>
            <a:endParaRPr lang="en-US" sz="1200" dirty="0"/>
          </a:p>
        </p:txBody>
      </p:sp>
      <p:sp>
        <p:nvSpPr>
          <p:cNvPr id="25" name="Text 4"/>
          <p:cNvSpPr txBox="1"/>
          <p:nvPr/>
        </p:nvSpPr>
        <p:spPr>
          <a:xfrm>
            <a:off x="952805" y="1181405"/>
            <a:ext cx="85725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kern="0" spc="135" dirty="0">
                <a:solidFill>
                  <a:srgbClr val="C9C4BD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8-WEEK TIMELINE</a:t>
            </a:r>
            <a:endParaRPr lang="en-US" sz="800" dirty="0"/>
          </a:p>
        </p:txBody>
      </p:sp>
      <p:sp>
        <p:nvSpPr>
          <p:cNvPr id="26" name="Text 5"/>
          <p:cNvSpPr txBox="1"/>
          <p:nvPr/>
        </p:nvSpPr>
        <p:spPr>
          <a:xfrm>
            <a:off x="13525805" y="952805"/>
            <a:ext cx="3810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98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HISBEANS · STORE MINI APP PLAN</a:t>
            </a:r>
            <a:endParaRPr lang="en-US" sz="900" dirty="0"/>
          </a:p>
        </p:txBody>
      </p:sp>
      <p:sp>
        <p:nvSpPr>
          <p:cNvPr id="27" name="Text 6"/>
          <p:cNvSpPr txBox="1"/>
          <p:nvPr/>
        </p:nvSpPr>
        <p:spPr>
          <a:xfrm>
            <a:off x="952805" y="1714500"/>
            <a:ext cx="163833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11월부터 </a:t>
            </a:r>
            <a:r>
              <a:rPr lang="en-US" sz="2700" b="1" kern="0" spc="-67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8주 안에</a:t>
            </a:r>
            <a:r>
              <a:rPr lang="en-US" sz="2700" b="1" kern="0" spc="-67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 파일럿 판정까지 완료합니다.</a:t>
            </a:r>
            <a:endParaRPr lang="en-US" sz="2700" dirty="0"/>
          </a:p>
        </p:txBody>
      </p:sp>
      <p:sp>
        <p:nvSpPr>
          <p:cNvPr id="28" name="Text 7"/>
          <p:cNvSpPr txBox="1"/>
          <p:nvPr/>
        </p:nvSpPr>
        <p:spPr>
          <a:xfrm>
            <a:off x="1143000" y="2980944"/>
            <a:ext cx="20007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6" dirty="0">
                <a:solidFill>
                  <a:srgbClr val="B8B3AC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주요 업무</a:t>
            </a:r>
            <a:endParaRPr lang="en-US" sz="900" dirty="0"/>
          </a:p>
        </p:txBody>
      </p:sp>
      <p:sp>
        <p:nvSpPr>
          <p:cNvPr id="29" name="Text 8"/>
          <p:cNvSpPr txBox="1"/>
          <p:nvPr/>
        </p:nvSpPr>
        <p:spPr>
          <a:xfrm>
            <a:off x="3143707" y="2980944"/>
            <a:ext cx="1334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6" dirty="0">
                <a:solidFill>
                  <a:srgbClr val="B8B3AC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책임자</a:t>
            </a:r>
            <a:endParaRPr lang="en-US" sz="900" dirty="0"/>
          </a:p>
        </p:txBody>
      </p:sp>
      <p:sp>
        <p:nvSpPr>
          <p:cNvPr id="30" name="Text 9"/>
          <p:cNvSpPr txBox="1"/>
          <p:nvPr/>
        </p:nvSpPr>
        <p:spPr>
          <a:xfrm>
            <a:off x="4476902" y="2980944"/>
            <a:ext cx="643006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5" b="1" kern="0" spc="137" dirty="0">
                <a:solidFill>
                  <a:srgbClr val="FFFFF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1개월차</a:t>
            </a:r>
            <a:endParaRPr lang="en-US" sz="975" dirty="0"/>
          </a:p>
        </p:txBody>
      </p:sp>
      <p:sp>
        <p:nvSpPr>
          <p:cNvPr id="31" name="Text 10"/>
          <p:cNvSpPr txBox="1"/>
          <p:nvPr/>
        </p:nvSpPr>
        <p:spPr>
          <a:xfrm>
            <a:off x="10906049" y="2980944"/>
            <a:ext cx="643006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5" b="1" kern="0" spc="137" dirty="0">
                <a:solidFill>
                  <a:srgbClr val="FFFFF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2개월차</a:t>
            </a:r>
            <a:endParaRPr lang="en-US" sz="975" dirty="0"/>
          </a:p>
        </p:txBody>
      </p:sp>
      <p:sp>
        <p:nvSpPr>
          <p:cNvPr id="32" name="Text 11"/>
          <p:cNvSpPr txBox="1"/>
          <p:nvPr/>
        </p:nvSpPr>
        <p:spPr>
          <a:xfrm>
            <a:off x="4476902" y="3267151"/>
            <a:ext cx="160020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25" b="1" kern="0" spc="50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W1</a:t>
            </a:r>
            <a:endParaRPr lang="en-US" sz="825" dirty="0"/>
          </a:p>
        </p:txBody>
      </p:sp>
      <p:sp>
        <p:nvSpPr>
          <p:cNvPr id="33" name="Text 12"/>
          <p:cNvSpPr txBox="1"/>
          <p:nvPr/>
        </p:nvSpPr>
        <p:spPr>
          <a:xfrm>
            <a:off x="6086246" y="3267151"/>
            <a:ext cx="160020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25" b="1" kern="0" spc="50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W2</a:t>
            </a:r>
            <a:endParaRPr lang="en-US" sz="825" dirty="0"/>
          </a:p>
        </p:txBody>
      </p:sp>
      <p:sp>
        <p:nvSpPr>
          <p:cNvPr id="34" name="Text 13"/>
          <p:cNvSpPr txBox="1"/>
          <p:nvPr/>
        </p:nvSpPr>
        <p:spPr>
          <a:xfrm>
            <a:off x="7686446" y="3267151"/>
            <a:ext cx="160020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25" b="1" kern="0" spc="50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W3</a:t>
            </a:r>
            <a:endParaRPr lang="en-US" sz="825" dirty="0"/>
          </a:p>
        </p:txBody>
      </p:sp>
      <p:sp>
        <p:nvSpPr>
          <p:cNvPr id="35" name="Text 14"/>
          <p:cNvSpPr txBox="1"/>
          <p:nvPr/>
        </p:nvSpPr>
        <p:spPr>
          <a:xfrm>
            <a:off x="9296705" y="3267151"/>
            <a:ext cx="160020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25" b="1" kern="0" spc="50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W4</a:t>
            </a:r>
            <a:endParaRPr lang="en-US" sz="825" dirty="0"/>
          </a:p>
        </p:txBody>
      </p:sp>
      <p:sp>
        <p:nvSpPr>
          <p:cNvPr id="36" name="Text 15"/>
          <p:cNvSpPr txBox="1"/>
          <p:nvPr/>
        </p:nvSpPr>
        <p:spPr>
          <a:xfrm>
            <a:off x="10906049" y="3267151"/>
            <a:ext cx="160020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25" b="1" kern="0" spc="50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W1</a:t>
            </a:r>
            <a:endParaRPr lang="en-US" sz="825" dirty="0"/>
          </a:p>
        </p:txBody>
      </p:sp>
      <p:sp>
        <p:nvSpPr>
          <p:cNvPr id="37" name="Text 16"/>
          <p:cNvSpPr txBox="1"/>
          <p:nvPr/>
        </p:nvSpPr>
        <p:spPr>
          <a:xfrm>
            <a:off x="12516307" y="3267151"/>
            <a:ext cx="160020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25" b="1" kern="0" spc="50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W2</a:t>
            </a:r>
            <a:endParaRPr lang="en-US" sz="825" dirty="0"/>
          </a:p>
        </p:txBody>
      </p:sp>
      <p:sp>
        <p:nvSpPr>
          <p:cNvPr id="38" name="Text 17"/>
          <p:cNvSpPr txBox="1"/>
          <p:nvPr/>
        </p:nvSpPr>
        <p:spPr>
          <a:xfrm>
            <a:off x="14116507" y="3267151"/>
            <a:ext cx="160020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25" b="1" kern="0" spc="50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W3</a:t>
            </a:r>
            <a:endParaRPr lang="en-US" sz="825" dirty="0"/>
          </a:p>
        </p:txBody>
      </p:sp>
      <p:sp>
        <p:nvSpPr>
          <p:cNvPr id="39" name="Text 18"/>
          <p:cNvSpPr txBox="1"/>
          <p:nvPr/>
        </p:nvSpPr>
        <p:spPr>
          <a:xfrm>
            <a:off x="15725851" y="3267151"/>
            <a:ext cx="160020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25" b="1" kern="0" spc="50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W4</a:t>
            </a:r>
            <a:endParaRPr lang="en-US" sz="825" dirty="0"/>
          </a:p>
        </p:txBody>
      </p:sp>
      <p:sp>
        <p:nvSpPr>
          <p:cNvPr id="40" name="Text 19"/>
          <p:cNvSpPr txBox="1"/>
          <p:nvPr/>
        </p:nvSpPr>
        <p:spPr>
          <a:xfrm>
            <a:off x="1143000" y="3476549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목적 합의·플로우 설계</a:t>
            </a:r>
            <a:endParaRPr lang="en-US" sz="1125" dirty="0"/>
          </a:p>
        </p:txBody>
      </p:sp>
      <p:sp>
        <p:nvSpPr>
          <p:cNvPr id="41" name="Text 20"/>
          <p:cNvSpPr txBox="1"/>
          <p:nvPr/>
        </p:nvSpPr>
        <p:spPr>
          <a:xfrm>
            <a:off x="1143000" y="3972154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서사 콘텐츠 수집·동의</a:t>
            </a:r>
            <a:endParaRPr lang="en-US" sz="1125" dirty="0"/>
          </a:p>
        </p:txBody>
      </p:sp>
      <p:sp>
        <p:nvSpPr>
          <p:cNvPr id="42" name="Text 21"/>
          <p:cNvSpPr txBox="1"/>
          <p:nvPr/>
        </p:nvSpPr>
        <p:spPr>
          <a:xfrm>
            <a:off x="1143000" y="4466844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MVP 구현</a:t>
            </a:r>
            <a:endParaRPr lang="en-US" sz="1125" dirty="0"/>
          </a:p>
        </p:txBody>
      </p:sp>
      <p:sp>
        <p:nvSpPr>
          <p:cNvPr id="43" name="Text 22"/>
          <p:cNvSpPr txBox="1"/>
          <p:nvPr/>
        </p:nvSpPr>
        <p:spPr>
          <a:xfrm>
            <a:off x="1143000" y="4962449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혜택 원가·정산 협의</a:t>
            </a:r>
            <a:endParaRPr lang="en-US" sz="1125" dirty="0"/>
          </a:p>
        </p:txBody>
      </p:sp>
      <p:sp>
        <p:nvSpPr>
          <p:cNvPr id="44" name="Text 23"/>
          <p:cNvSpPr txBox="1"/>
          <p:nvPr/>
        </p:nvSpPr>
        <p:spPr>
          <a:xfrm>
            <a:off x="1143000" y="5458054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QR 설치·매니저 교육</a:t>
            </a:r>
            <a:endParaRPr lang="en-US" sz="1125" dirty="0"/>
          </a:p>
        </p:txBody>
      </p:sp>
      <p:sp>
        <p:nvSpPr>
          <p:cNvPr id="45" name="Text 24"/>
          <p:cNvSpPr txBox="1"/>
          <p:nvPr/>
        </p:nvSpPr>
        <p:spPr>
          <a:xfrm>
            <a:off x="1143000" y="5952744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4주 파일럿·지표 점검</a:t>
            </a:r>
            <a:endParaRPr lang="en-US" sz="1125" dirty="0"/>
          </a:p>
        </p:txBody>
      </p:sp>
      <p:sp>
        <p:nvSpPr>
          <p:cNvPr id="46" name="Text 25"/>
          <p:cNvSpPr txBox="1"/>
          <p:nvPr/>
        </p:nvSpPr>
        <p:spPr>
          <a:xfrm>
            <a:off x="1143000" y="6448349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결과 판정·확장 결정</a:t>
            </a:r>
            <a:endParaRPr lang="en-US" sz="1125" dirty="0"/>
          </a:p>
        </p:txBody>
      </p:sp>
      <p:sp>
        <p:nvSpPr>
          <p:cNvPr id="47" name="Text 26"/>
          <p:cNvSpPr txBox="1"/>
          <p:nvPr/>
        </p:nvSpPr>
        <p:spPr>
          <a:xfrm>
            <a:off x="3143707" y="3476549"/>
            <a:ext cx="1334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5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기획 (PM)</a:t>
            </a:r>
            <a:endParaRPr lang="en-US" sz="975" dirty="0"/>
          </a:p>
        </p:txBody>
      </p:sp>
      <p:sp>
        <p:nvSpPr>
          <p:cNvPr id="48" name="Text 27"/>
          <p:cNvSpPr txBox="1"/>
          <p:nvPr/>
        </p:nvSpPr>
        <p:spPr>
          <a:xfrm>
            <a:off x="3143707" y="3972154"/>
            <a:ext cx="1334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5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브랜드·콘텐츠</a:t>
            </a:r>
            <a:endParaRPr lang="en-US" sz="975" dirty="0"/>
          </a:p>
        </p:txBody>
      </p:sp>
      <p:sp>
        <p:nvSpPr>
          <p:cNvPr id="49" name="Text 28"/>
          <p:cNvSpPr txBox="1"/>
          <p:nvPr/>
        </p:nvSpPr>
        <p:spPr>
          <a:xfrm>
            <a:off x="3143707" y="4466844"/>
            <a:ext cx="1334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5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개발 (웹)</a:t>
            </a:r>
            <a:endParaRPr lang="en-US" sz="975" dirty="0"/>
          </a:p>
        </p:txBody>
      </p:sp>
      <p:sp>
        <p:nvSpPr>
          <p:cNvPr id="50" name="Text 29"/>
          <p:cNvSpPr txBox="1"/>
          <p:nvPr/>
        </p:nvSpPr>
        <p:spPr>
          <a:xfrm>
            <a:off x="3143707" y="4962449"/>
            <a:ext cx="1334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5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운영·재무</a:t>
            </a:r>
            <a:endParaRPr lang="en-US" sz="975" dirty="0"/>
          </a:p>
        </p:txBody>
      </p:sp>
      <p:sp>
        <p:nvSpPr>
          <p:cNvPr id="51" name="Text 30"/>
          <p:cNvSpPr txBox="1"/>
          <p:nvPr/>
        </p:nvSpPr>
        <p:spPr>
          <a:xfrm>
            <a:off x="3143707" y="5458054"/>
            <a:ext cx="1334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5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직영 매장운영</a:t>
            </a:r>
            <a:endParaRPr lang="en-US" sz="975" dirty="0"/>
          </a:p>
        </p:txBody>
      </p:sp>
      <p:sp>
        <p:nvSpPr>
          <p:cNvPr id="52" name="Text 31"/>
          <p:cNvSpPr txBox="1"/>
          <p:nvPr/>
        </p:nvSpPr>
        <p:spPr>
          <a:xfrm>
            <a:off x="3143707" y="5952744"/>
            <a:ext cx="1334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5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기획 (PM)</a:t>
            </a:r>
            <a:endParaRPr lang="en-US" sz="975" dirty="0"/>
          </a:p>
        </p:txBody>
      </p:sp>
      <p:sp>
        <p:nvSpPr>
          <p:cNvPr id="53" name="Text 32"/>
          <p:cNvSpPr txBox="1"/>
          <p:nvPr/>
        </p:nvSpPr>
        <p:spPr>
          <a:xfrm>
            <a:off x="3143707" y="6448349"/>
            <a:ext cx="1334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5" dirty="0">
                <a:solidFill>
                  <a:srgbClr val="1A1A1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기획 (PM)</a:t>
            </a:r>
            <a:endParaRPr lang="en-US" sz="975" dirty="0"/>
          </a:p>
        </p:txBody>
      </p:sp>
      <p:sp>
        <p:nvSpPr>
          <p:cNvPr id="55" name="Text 34"/>
          <p:cNvSpPr txBox="1"/>
          <p:nvPr/>
        </p:nvSpPr>
        <p:spPr>
          <a:xfrm>
            <a:off x="952805" y="7095744"/>
            <a:ext cx="5715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0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주요 마일스톤 </a:t>
            </a:r>
            <a:r>
              <a:rPr lang="en-US" sz="975" b="1" kern="0" spc="20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(3개)</a:t>
            </a:r>
            <a:endParaRPr lang="en-US" sz="975" dirty="0"/>
          </a:p>
        </p:txBody>
      </p:sp>
      <p:sp>
        <p:nvSpPr>
          <p:cNvPr id="56" name="Shape 35"/>
          <p:cNvSpPr/>
          <p:nvPr/>
        </p:nvSpPr>
        <p:spPr>
          <a:xfrm>
            <a:off x="952805" y="7477049"/>
            <a:ext cx="5257800" cy="19202"/>
          </a:xfrm>
          <a:prstGeom prst="rect">
            <a:avLst/>
          </a:prstGeom>
          <a:solidFill>
            <a:srgbClr val="4A2F1F"/>
          </a:solidFill>
          <a:ln w="12700">
            <a:solidFill>
              <a:srgbClr val="4A2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36"/>
          <p:cNvSpPr txBox="1"/>
          <p:nvPr/>
        </p:nvSpPr>
        <p:spPr>
          <a:xfrm>
            <a:off x="952805" y="7629754"/>
            <a:ext cx="52578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M1 · 1개월차 W1</a:t>
            </a:r>
            <a:endParaRPr lang="en-US" sz="900" dirty="0"/>
          </a:p>
        </p:txBody>
      </p:sp>
      <p:sp>
        <p:nvSpPr>
          <p:cNvPr id="58" name="Text 37"/>
          <p:cNvSpPr txBox="1"/>
          <p:nvPr/>
        </p:nvSpPr>
        <p:spPr>
          <a:xfrm>
            <a:off x="952805" y="7839151"/>
            <a:ext cx="52578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의사결정 01 — 목적 재정의 합의</a:t>
            </a:r>
            <a:endParaRPr lang="en-US" sz="1350" dirty="0"/>
          </a:p>
        </p:txBody>
      </p:sp>
      <p:sp>
        <p:nvSpPr>
          <p:cNvPr id="59" name="Shape 38"/>
          <p:cNvSpPr/>
          <p:nvPr/>
        </p:nvSpPr>
        <p:spPr>
          <a:xfrm>
            <a:off x="6515100" y="7477049"/>
            <a:ext cx="5257800" cy="19202"/>
          </a:xfrm>
          <a:prstGeom prst="rect">
            <a:avLst/>
          </a:prstGeom>
          <a:solidFill>
            <a:srgbClr val="4A2F1F"/>
          </a:solidFill>
          <a:ln w="12700">
            <a:solidFill>
              <a:srgbClr val="4A2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39"/>
          <p:cNvSpPr txBox="1"/>
          <p:nvPr/>
        </p:nvSpPr>
        <p:spPr>
          <a:xfrm>
            <a:off x="6515100" y="7629754"/>
            <a:ext cx="52578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M2 · 1개월차 W4</a:t>
            </a:r>
            <a:endParaRPr lang="en-US" sz="900" dirty="0"/>
          </a:p>
        </p:txBody>
      </p:sp>
      <p:sp>
        <p:nvSpPr>
          <p:cNvPr id="61" name="Text 40"/>
          <p:cNvSpPr txBox="1"/>
          <p:nvPr/>
        </p:nvSpPr>
        <p:spPr>
          <a:xfrm>
            <a:off x="6515100" y="7839151"/>
            <a:ext cx="52578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미니앱 v1 매장 오픈 · 파일럿 개시</a:t>
            </a:r>
            <a:endParaRPr lang="en-US" sz="1350" dirty="0"/>
          </a:p>
        </p:txBody>
      </p:sp>
      <p:sp>
        <p:nvSpPr>
          <p:cNvPr id="62" name="Shape 41"/>
          <p:cNvSpPr/>
          <p:nvPr/>
        </p:nvSpPr>
        <p:spPr>
          <a:xfrm>
            <a:off x="12077395" y="7477049"/>
            <a:ext cx="5257800" cy="19202"/>
          </a:xfrm>
          <a:prstGeom prst="rect">
            <a:avLst/>
          </a:prstGeom>
          <a:solidFill>
            <a:srgbClr val="4A2F1F"/>
          </a:solidFill>
          <a:ln w="12700">
            <a:solidFill>
              <a:srgbClr val="4A2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42"/>
          <p:cNvSpPr txBox="1"/>
          <p:nvPr/>
        </p:nvSpPr>
        <p:spPr>
          <a:xfrm>
            <a:off x="12077395" y="7629754"/>
            <a:ext cx="52578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M3 · 2개월차 W4</a:t>
            </a:r>
            <a:endParaRPr lang="en-US" sz="900" dirty="0"/>
          </a:p>
        </p:txBody>
      </p:sp>
      <p:sp>
        <p:nvSpPr>
          <p:cNvPr id="64" name="Text 43"/>
          <p:cNvSpPr txBox="1"/>
          <p:nvPr/>
        </p:nvSpPr>
        <p:spPr>
          <a:xfrm>
            <a:off x="12077395" y="7839151"/>
            <a:ext cx="52578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의사결정 02 — 자문운영점 확장 여부</a:t>
            </a:r>
            <a:endParaRPr lang="en-US" sz="1350" dirty="0"/>
          </a:p>
        </p:txBody>
      </p:sp>
      <p:sp>
        <p:nvSpPr>
          <p:cNvPr id="65" name="Text 44"/>
          <p:cNvSpPr txBox="1"/>
          <p:nvPr/>
        </p:nvSpPr>
        <p:spPr>
          <a:xfrm>
            <a:off x="1153973" y="9206179"/>
            <a:ext cx="810158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핵심 업무</a:t>
            </a:r>
            <a:endParaRPr lang="en-US" sz="900" dirty="0"/>
          </a:p>
        </p:txBody>
      </p:sp>
      <p:sp>
        <p:nvSpPr>
          <p:cNvPr id="66" name="Text 45"/>
          <p:cNvSpPr txBox="1"/>
          <p:nvPr/>
        </p:nvSpPr>
        <p:spPr>
          <a:xfrm>
            <a:off x="2263140" y="9206179"/>
            <a:ext cx="810158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지원 업무</a:t>
            </a:r>
            <a:endParaRPr lang="en-US" sz="900" dirty="0"/>
          </a:p>
        </p:txBody>
      </p:sp>
      <p:sp>
        <p:nvSpPr>
          <p:cNvPr id="67" name="Text 46"/>
          <p:cNvSpPr txBox="1"/>
          <p:nvPr/>
        </p:nvSpPr>
        <p:spPr>
          <a:xfrm>
            <a:off x="3373222" y="9206179"/>
            <a:ext cx="117043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마일스톤 · 의사결정</a:t>
            </a:r>
            <a:endParaRPr lang="en-US" sz="900" dirty="0"/>
          </a:p>
        </p:txBody>
      </p:sp>
      <p:sp>
        <p:nvSpPr>
          <p:cNvPr id="68" name="Text 47"/>
          <p:cNvSpPr txBox="1"/>
          <p:nvPr/>
        </p:nvSpPr>
        <p:spPr>
          <a:xfrm>
            <a:off x="4543654" y="9191549"/>
            <a:ext cx="1279245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진행 원칙 │ </a:t>
            </a:r>
            <a:r>
              <a:rPr lang="en-US" sz="900" b="1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파일럿 4주는 1개월차 W4~2개월차 W3, 판정은 2개월차 W4에 진행합니다.</a:t>
            </a:r>
            <a:endParaRPr lang="en-US" sz="900" dirty="0"/>
          </a:p>
        </p:txBody>
      </p:sp>
      <p:sp>
        <p:nvSpPr>
          <p:cNvPr id="69" name="Text 48"/>
          <p:cNvSpPr txBox="1"/>
          <p:nvPr/>
        </p:nvSpPr>
        <p:spPr>
          <a:xfrm>
            <a:off x="952805" y="9982505"/>
            <a:ext cx="857250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HISBEANS / 매장 미니앱 기획서</a:t>
            </a:r>
            <a:endParaRPr lang="en-US" sz="825" dirty="0"/>
          </a:p>
        </p:txBody>
      </p:sp>
      <p:sp>
        <p:nvSpPr>
          <p:cNvPr id="70" name="Text 49"/>
          <p:cNvSpPr txBox="1"/>
          <p:nvPr/>
        </p:nvSpPr>
        <p:spPr>
          <a:xfrm>
            <a:off x="15430500" y="9982505"/>
            <a:ext cx="190561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825" kern="0" spc="83" dirty="0">
                <a:solidFill>
                  <a:srgbClr val="8A8A8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06 / 08</a:t>
            </a:r>
            <a:endParaRPr lang="en-US" sz="825" dirty="0"/>
          </a:p>
        </p:txBody>
      </p:sp>
      <p:sp>
        <p:nvSpPr>
          <p:cNvPr id="71" name="Gantt bar 1"/>
          <p:cNvSpPr/>
          <p:nvPr/>
        </p:nvSpPr>
        <p:spPr>
          <a:xfrm>
            <a:off x="4526280" y="3474720"/>
            <a:ext cx="1515160" cy="173736"/>
          </a:xfrm>
          <a:prstGeom prst="rect">
            <a:avLst/>
          </a:prstGeom>
          <a:solidFill>
            <a:srgbClr val="4A2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Gantt bar 2"/>
          <p:cNvSpPr/>
          <p:nvPr/>
        </p:nvSpPr>
        <p:spPr>
          <a:xfrm>
            <a:off x="4526280" y="3970324"/>
            <a:ext cx="4728362" cy="173736"/>
          </a:xfrm>
          <a:prstGeom prst="rect">
            <a:avLst/>
          </a:prstGeom>
          <a:solidFill>
            <a:srgbClr val="4A2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Gantt bar 3"/>
          <p:cNvSpPr/>
          <p:nvPr/>
        </p:nvSpPr>
        <p:spPr>
          <a:xfrm>
            <a:off x="6132880" y="4465929"/>
            <a:ext cx="3121761" cy="173736"/>
          </a:xfrm>
          <a:prstGeom prst="rect">
            <a:avLst/>
          </a:prstGeom>
          <a:solidFill>
            <a:srgbClr val="4A2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Gantt bar 4"/>
          <p:cNvSpPr/>
          <p:nvPr/>
        </p:nvSpPr>
        <p:spPr>
          <a:xfrm>
            <a:off x="6132880" y="4961534"/>
            <a:ext cx="3121761" cy="173736"/>
          </a:xfrm>
          <a:prstGeom prst="rect">
            <a:avLst/>
          </a:prstGeom>
          <a:solidFill>
            <a:srgbClr val="C9C4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Gantt bar 5"/>
          <p:cNvSpPr/>
          <p:nvPr/>
        </p:nvSpPr>
        <p:spPr>
          <a:xfrm>
            <a:off x="9346082" y="5457139"/>
            <a:ext cx="1515160" cy="173736"/>
          </a:xfrm>
          <a:prstGeom prst="rect">
            <a:avLst/>
          </a:prstGeom>
          <a:solidFill>
            <a:srgbClr val="C9C4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Gantt bar 6"/>
          <p:cNvSpPr/>
          <p:nvPr/>
        </p:nvSpPr>
        <p:spPr>
          <a:xfrm>
            <a:off x="9346082" y="5952744"/>
            <a:ext cx="6334963" cy="173736"/>
          </a:xfrm>
          <a:prstGeom prst="rect">
            <a:avLst/>
          </a:prstGeom>
          <a:solidFill>
            <a:srgbClr val="4A2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Gantt bar 7"/>
          <p:cNvSpPr/>
          <p:nvPr/>
        </p:nvSpPr>
        <p:spPr>
          <a:xfrm>
            <a:off x="15772485" y="6448348"/>
            <a:ext cx="1515160" cy="173736"/>
          </a:xfrm>
          <a:prstGeom prst="rect">
            <a:avLst/>
          </a:prstGeom>
          <a:solidFill>
            <a:srgbClr val="4A2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Milestone"/>
          <p:cNvSpPr/>
          <p:nvPr/>
        </p:nvSpPr>
        <p:spPr>
          <a:xfrm>
            <a:off x="5803696" y="3442715"/>
            <a:ext cx="237744" cy="237744"/>
          </a:xfrm>
          <a:prstGeom prst="diamond">
            <a:avLst/>
          </a:prstGeom>
          <a:solidFill>
            <a:srgbClr val="7A4E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Milestone"/>
          <p:cNvSpPr/>
          <p:nvPr/>
        </p:nvSpPr>
        <p:spPr>
          <a:xfrm>
            <a:off x="10623499" y="5425135"/>
            <a:ext cx="237744" cy="237744"/>
          </a:xfrm>
          <a:prstGeom prst="diamond">
            <a:avLst/>
          </a:prstGeom>
          <a:solidFill>
            <a:srgbClr val="7A4E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Milestone"/>
          <p:cNvSpPr/>
          <p:nvPr/>
        </p:nvSpPr>
        <p:spPr>
          <a:xfrm>
            <a:off x="17049902" y="6416344"/>
            <a:ext cx="237744" cy="237744"/>
          </a:xfrm>
          <a:prstGeom prst="diamond">
            <a:avLst/>
          </a:prstGeom>
          <a:solidFill>
            <a:srgbClr val="7A4E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Legend swatch"/>
          <p:cNvSpPr/>
          <p:nvPr/>
        </p:nvSpPr>
        <p:spPr>
          <a:xfrm>
            <a:off x="971093" y="9224467"/>
            <a:ext cx="128016" cy="109728"/>
          </a:xfrm>
          <a:prstGeom prst="rect">
            <a:avLst/>
          </a:prstGeom>
          <a:solidFill>
            <a:srgbClr val="4A2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Legend swatch"/>
          <p:cNvSpPr/>
          <p:nvPr/>
        </p:nvSpPr>
        <p:spPr>
          <a:xfrm>
            <a:off x="2080260" y="9224467"/>
            <a:ext cx="128016" cy="109728"/>
          </a:xfrm>
          <a:prstGeom prst="rect">
            <a:avLst/>
          </a:prstGeom>
          <a:solidFill>
            <a:srgbClr val="C9C4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Legend swatch"/>
          <p:cNvSpPr/>
          <p:nvPr/>
        </p:nvSpPr>
        <p:spPr>
          <a:xfrm>
            <a:off x="3190342" y="9215323"/>
            <a:ext cx="128016" cy="128016"/>
          </a:xfrm>
          <a:prstGeom prst="diamond">
            <a:avLst/>
          </a:prstGeom>
          <a:solidFill>
            <a:srgbClr val="7A4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aa563f3761172d4adc298f0c43b88f6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2805" y="761695"/>
            <a:ext cx="16383305" cy="9144"/>
          </a:xfrm>
          <a:prstGeom prst="rect">
            <a:avLst/>
          </a:prstGeom>
        </p:spPr>
      </p:pic>
      <p:pic>
        <p:nvPicPr>
          <p:cNvPr id="3" name="Image 1" descr="gen-dedup-0027c3c5f3cae63b5ca1e3146ac43493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952805" y="2809951"/>
            <a:ext cx="761695" cy="1920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52805" y="3191256"/>
            <a:ext cx="3857854" cy="3810305"/>
          </a:xfrm>
          <a:prstGeom prst="rect">
            <a:avLst/>
          </a:prstGeom>
          <a:solidFill>
            <a:srgbClr val="FAF8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1"/>
          <p:cNvSpPr/>
          <p:nvPr/>
        </p:nvSpPr>
        <p:spPr>
          <a:xfrm>
            <a:off x="5000854" y="3191256"/>
            <a:ext cx="3857854" cy="3810305"/>
          </a:xfrm>
          <a:prstGeom prst="rect">
            <a:avLst/>
          </a:prstGeom>
          <a:solidFill>
            <a:srgbClr val="FAF8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/>
          <p:cNvSpPr/>
          <p:nvPr/>
        </p:nvSpPr>
        <p:spPr>
          <a:xfrm>
            <a:off x="9048902" y="3191256"/>
            <a:ext cx="3857854" cy="3810305"/>
          </a:xfrm>
          <a:prstGeom prst="rect">
            <a:avLst/>
          </a:prstGeom>
          <a:solidFill>
            <a:srgbClr val="FAF8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13096951" y="3191256"/>
            <a:ext cx="4238244" cy="3810305"/>
          </a:xfrm>
          <a:prstGeom prst="rect">
            <a:avLst/>
          </a:prstGeom>
          <a:solidFill>
            <a:srgbClr val="4A2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2" descr="gen-dedup-faa563f3761172d4adc298f0c43b88f6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2805" y="7524598"/>
            <a:ext cx="16383305" cy="9144"/>
          </a:xfrm>
          <a:prstGeom prst="rect">
            <a:avLst/>
          </a:prstGeom>
        </p:spPr>
      </p:pic>
      <p:pic>
        <p:nvPicPr>
          <p:cNvPr id="9" name="Image 3" descr="gen-dedup-332d4bd6ac51c0654c229e1e739141ae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952805" y="9810598"/>
            <a:ext cx="16383305" cy="9144"/>
          </a:xfrm>
          <a:prstGeom prst="rect">
            <a:avLst/>
          </a:prstGeom>
        </p:spPr>
      </p:pic>
      <p:pic>
        <p:nvPicPr>
          <p:cNvPr id="10" name="Image 4" descr="gen-dedup-2125af9ee8a7bcaae19192ddefaab94c.png"/>
          <p:cNvPicPr>
            <a:picLocks noChangeAspect="1"/>
          </p:cNvPicPr>
          <p:nvPr/>
        </p:nvPicPr>
        <p:blipFill>
          <a:blip r:embed="rId6"/>
          <a:srcRect t="-360" b="-360"/>
          <a:stretch/>
        </p:blipFill>
        <p:spPr>
          <a:xfrm>
            <a:off x="1238098" y="5952744"/>
            <a:ext cx="381305" cy="19202"/>
          </a:xfrm>
          <a:prstGeom prst="rect">
            <a:avLst/>
          </a:prstGeom>
        </p:spPr>
      </p:pic>
      <p:pic>
        <p:nvPicPr>
          <p:cNvPr id="11" name="Image 5" descr="gen-dedup-2125af9ee8a7bcaae19192ddefaab94c.png"/>
          <p:cNvPicPr>
            <a:picLocks noChangeAspect="1"/>
          </p:cNvPicPr>
          <p:nvPr/>
        </p:nvPicPr>
        <p:blipFill>
          <a:blip r:embed="rId6"/>
          <a:srcRect t="-360" b="-360"/>
          <a:stretch/>
        </p:blipFill>
        <p:spPr>
          <a:xfrm>
            <a:off x="5286146" y="5952744"/>
            <a:ext cx="381305" cy="19202"/>
          </a:xfrm>
          <a:prstGeom prst="rect">
            <a:avLst/>
          </a:prstGeom>
        </p:spPr>
      </p:pic>
      <p:pic>
        <p:nvPicPr>
          <p:cNvPr id="12" name="Image 6" descr="gen-dedup-2125af9ee8a7bcaae19192ddefaab94c.png"/>
          <p:cNvPicPr>
            <a:picLocks noChangeAspect="1"/>
          </p:cNvPicPr>
          <p:nvPr/>
        </p:nvPicPr>
        <p:blipFill>
          <a:blip r:embed="rId6"/>
          <a:srcRect t="-360" b="-360"/>
          <a:stretch/>
        </p:blipFill>
        <p:spPr>
          <a:xfrm>
            <a:off x="9334195" y="5952744"/>
            <a:ext cx="381305" cy="19202"/>
          </a:xfrm>
          <a:prstGeom prst="rect">
            <a:avLst/>
          </a:prstGeom>
        </p:spPr>
      </p:pic>
      <p:pic>
        <p:nvPicPr>
          <p:cNvPr id="13" name="Image 7" descr="gen-dedup-0c66d6d236f994aecdfd8b7d68bf48f7.png"/>
          <p:cNvPicPr>
            <a:picLocks noChangeAspect="1"/>
          </p:cNvPicPr>
          <p:nvPr/>
        </p:nvPicPr>
        <p:blipFill>
          <a:blip r:embed="rId7"/>
          <a:srcRect t="-360" b="-360"/>
          <a:stretch/>
        </p:blipFill>
        <p:spPr>
          <a:xfrm>
            <a:off x="13382244" y="5952744"/>
            <a:ext cx="381305" cy="19202"/>
          </a:xfrm>
          <a:prstGeom prst="rect">
            <a:avLst/>
          </a:prstGeom>
        </p:spPr>
      </p:pic>
      <p:sp>
        <p:nvSpPr>
          <p:cNvPr id="14" name="Text 4"/>
          <p:cNvSpPr txBox="1"/>
          <p:nvPr/>
        </p:nvSpPr>
        <p:spPr>
          <a:xfrm>
            <a:off x="952805" y="952805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07 / 기대효과 및 사업성과</a:t>
            </a:r>
            <a:endParaRPr lang="en-US" sz="1200" dirty="0"/>
          </a:p>
        </p:txBody>
      </p:sp>
      <p:sp>
        <p:nvSpPr>
          <p:cNvPr id="15" name="Text 5"/>
          <p:cNvSpPr txBox="1"/>
          <p:nvPr/>
        </p:nvSpPr>
        <p:spPr>
          <a:xfrm>
            <a:off x="952805" y="1181405"/>
            <a:ext cx="85725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kern="0" spc="135" dirty="0">
                <a:solidFill>
                  <a:srgbClr val="C9C4BD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EXPECTED IMPACT</a:t>
            </a:r>
            <a:endParaRPr lang="en-US" sz="800" dirty="0"/>
          </a:p>
        </p:txBody>
      </p:sp>
      <p:sp>
        <p:nvSpPr>
          <p:cNvPr id="16" name="Text 6"/>
          <p:cNvSpPr txBox="1"/>
          <p:nvPr/>
        </p:nvSpPr>
        <p:spPr>
          <a:xfrm>
            <a:off x="13525805" y="952805"/>
            <a:ext cx="3810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98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HISBEANS · STORE MINI APP PLAN</a:t>
            </a:r>
            <a:endParaRPr lang="en-US" sz="900" dirty="0"/>
          </a:p>
        </p:txBody>
      </p:sp>
      <p:sp>
        <p:nvSpPr>
          <p:cNvPr id="17" name="Text 7"/>
          <p:cNvSpPr txBox="1"/>
          <p:nvPr/>
        </p:nvSpPr>
        <p:spPr>
          <a:xfrm>
            <a:off x="952805" y="1714500"/>
            <a:ext cx="16383305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이 프로젝트가 끝나면 </a:t>
            </a:r>
            <a:r>
              <a:rPr lang="en-US" sz="3000" b="1" kern="0" spc="-75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무엇이 좋아지는지</a:t>
            </a:r>
            <a:r>
              <a:rPr lang="en-US" sz="3000" b="1" kern="0" spc="-75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 4가지 관점으로 정합니다.</a:t>
            </a:r>
            <a:endParaRPr lang="en-US" sz="3000" dirty="0"/>
          </a:p>
        </p:txBody>
      </p:sp>
      <p:sp>
        <p:nvSpPr>
          <p:cNvPr id="18" name="Text 8"/>
          <p:cNvSpPr txBox="1"/>
          <p:nvPr/>
        </p:nvSpPr>
        <p:spPr>
          <a:xfrm>
            <a:off x="1238098" y="3429000"/>
            <a:ext cx="3286354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01 · 고객 효과</a:t>
            </a:r>
            <a:endParaRPr lang="en-US" sz="900" dirty="0"/>
          </a:p>
        </p:txBody>
      </p:sp>
      <p:sp>
        <p:nvSpPr>
          <p:cNvPr id="19" name="Text 9"/>
          <p:cNvSpPr txBox="1"/>
          <p:nvPr/>
        </p:nvSpPr>
        <p:spPr>
          <a:xfrm>
            <a:off x="1238098" y="3600907"/>
            <a:ext cx="3286354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고객에게 무엇이 좋아지나요?</a:t>
            </a:r>
            <a:endParaRPr lang="en-US" sz="900" dirty="0"/>
          </a:p>
        </p:txBody>
      </p:sp>
      <p:sp>
        <p:nvSpPr>
          <p:cNvPr id="20" name="Text 10"/>
          <p:cNvSpPr txBox="1"/>
          <p:nvPr/>
        </p:nvSpPr>
        <p:spPr>
          <a:xfrm>
            <a:off x="1238098" y="3952951"/>
            <a:ext cx="3286354" cy="724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700" b="1" kern="0" spc="-228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↑</a:t>
            </a:r>
            <a:endParaRPr lang="en-US" sz="5700" dirty="0"/>
          </a:p>
        </p:txBody>
      </p:sp>
      <p:sp>
        <p:nvSpPr>
          <p:cNvPr id="21" name="Text 11"/>
          <p:cNvSpPr txBox="1"/>
          <p:nvPr/>
        </p:nvSpPr>
        <p:spPr>
          <a:xfrm>
            <a:off x="1238098" y="4791456"/>
            <a:ext cx="3286354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kern="0" spc="-36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QR 한 번으로 ‘이 커피를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kern="0" spc="-36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내린 사람’을 알게 된다</a:t>
            </a:r>
            <a:endParaRPr lang="en-US" sz="1800" dirty="0"/>
          </a:p>
        </p:txBody>
      </p:sp>
      <p:sp>
        <p:nvSpPr>
          <p:cNvPr id="22" name="Text 12"/>
          <p:cNvSpPr txBox="1"/>
          <p:nvPr/>
        </p:nvSpPr>
        <p:spPr>
          <a:xfrm>
            <a:off x="1238098" y="6124651"/>
            <a:ext cx="3286354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KPI</a:t>
            </a:r>
            <a:endParaRPr lang="en-US" sz="825" dirty="0"/>
          </a:p>
        </p:txBody>
      </p:sp>
      <p:sp>
        <p:nvSpPr>
          <p:cNvPr id="23" name="Text 13"/>
          <p:cNvSpPr txBox="1"/>
          <p:nvPr/>
        </p:nvSpPr>
        <p:spPr>
          <a:xfrm>
            <a:off x="1238098" y="6286500"/>
            <a:ext cx="328635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서사 카드 열람 완료율 40%</a:t>
            </a:r>
            <a:endParaRPr lang="en-US" sz="1500" dirty="0"/>
          </a:p>
        </p:txBody>
      </p:sp>
      <p:sp>
        <p:nvSpPr>
          <p:cNvPr id="24" name="Text 14"/>
          <p:cNvSpPr txBox="1"/>
          <p:nvPr/>
        </p:nvSpPr>
        <p:spPr>
          <a:xfrm>
            <a:off x="5286146" y="3429000"/>
            <a:ext cx="3286354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02 · 재무 효과</a:t>
            </a:r>
            <a:endParaRPr lang="en-US" sz="900" dirty="0"/>
          </a:p>
        </p:txBody>
      </p:sp>
      <p:sp>
        <p:nvSpPr>
          <p:cNvPr id="25" name="Text 15"/>
          <p:cNvSpPr txBox="1"/>
          <p:nvPr/>
        </p:nvSpPr>
        <p:spPr>
          <a:xfrm>
            <a:off x="5286146" y="3600907"/>
            <a:ext cx="3286354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매출이나 비용은 어떻게 달라지나요?</a:t>
            </a:r>
            <a:endParaRPr lang="en-US" sz="900" dirty="0"/>
          </a:p>
        </p:txBody>
      </p:sp>
      <p:sp>
        <p:nvSpPr>
          <p:cNvPr id="26" name="Text 16"/>
          <p:cNvSpPr txBox="1"/>
          <p:nvPr/>
        </p:nvSpPr>
        <p:spPr>
          <a:xfrm>
            <a:off x="5286146" y="3952951"/>
            <a:ext cx="3286354" cy="724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700" b="1" kern="0" spc="-228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↑</a:t>
            </a:r>
            <a:endParaRPr lang="en-US" sz="5700" dirty="0"/>
          </a:p>
        </p:txBody>
      </p:sp>
      <p:sp>
        <p:nvSpPr>
          <p:cNvPr id="27" name="Text 17"/>
          <p:cNvSpPr txBox="1"/>
          <p:nvPr/>
        </p:nvSpPr>
        <p:spPr>
          <a:xfrm>
            <a:off x="5286146" y="4791456"/>
            <a:ext cx="3286354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kern="0" spc="-36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리뷰는 신규 방문으로,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kern="0" spc="-36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쿠폰은 재방문 매출로</a:t>
            </a:r>
            <a:endParaRPr lang="en-US" sz="1800" dirty="0"/>
          </a:p>
        </p:txBody>
      </p:sp>
      <p:sp>
        <p:nvSpPr>
          <p:cNvPr id="28" name="Text 18"/>
          <p:cNvSpPr txBox="1"/>
          <p:nvPr/>
        </p:nvSpPr>
        <p:spPr>
          <a:xfrm>
            <a:off x="5286146" y="6124651"/>
            <a:ext cx="3286354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KPI</a:t>
            </a:r>
            <a:endParaRPr lang="en-US" sz="825" dirty="0"/>
          </a:p>
        </p:txBody>
      </p:sp>
      <p:sp>
        <p:nvSpPr>
          <p:cNvPr id="29" name="Text 19"/>
          <p:cNvSpPr txBox="1"/>
          <p:nvPr/>
        </p:nvSpPr>
        <p:spPr>
          <a:xfrm>
            <a:off x="5286146" y="6286500"/>
            <a:ext cx="328635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재방문 쿠폰 사용률 15%</a:t>
            </a:r>
            <a:endParaRPr lang="en-US" sz="1500" dirty="0"/>
          </a:p>
        </p:txBody>
      </p:sp>
      <p:sp>
        <p:nvSpPr>
          <p:cNvPr id="30" name="Text 20"/>
          <p:cNvSpPr txBox="1"/>
          <p:nvPr/>
        </p:nvSpPr>
        <p:spPr>
          <a:xfrm>
            <a:off x="9334195" y="3429000"/>
            <a:ext cx="3286354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03 · 운영 효과</a:t>
            </a:r>
            <a:endParaRPr lang="en-US" sz="900" dirty="0"/>
          </a:p>
        </p:txBody>
      </p:sp>
      <p:sp>
        <p:nvSpPr>
          <p:cNvPr id="31" name="Text 21"/>
          <p:cNvSpPr txBox="1"/>
          <p:nvPr/>
        </p:nvSpPr>
        <p:spPr>
          <a:xfrm>
            <a:off x="9334195" y="3600907"/>
            <a:ext cx="3286354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업무나 현장 운영은 무엇이 좋아지나요?</a:t>
            </a:r>
            <a:endParaRPr lang="en-US" sz="900" dirty="0"/>
          </a:p>
        </p:txBody>
      </p:sp>
      <p:sp>
        <p:nvSpPr>
          <p:cNvPr id="32" name="Text 22"/>
          <p:cNvSpPr txBox="1"/>
          <p:nvPr/>
        </p:nvSpPr>
        <p:spPr>
          <a:xfrm>
            <a:off x="9334195" y="3952951"/>
            <a:ext cx="3286354" cy="724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700" b="1" kern="0" spc="-228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↑</a:t>
            </a:r>
            <a:endParaRPr lang="en-US" sz="5700" dirty="0"/>
          </a:p>
        </p:txBody>
      </p:sp>
      <p:sp>
        <p:nvSpPr>
          <p:cNvPr id="33" name="Text 23"/>
          <p:cNvSpPr txBox="1"/>
          <p:nvPr/>
        </p:nvSpPr>
        <p:spPr>
          <a:xfrm>
            <a:off x="9334195" y="4791456"/>
            <a:ext cx="3286354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kern="0" spc="-36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설명·안내문 없이 전 매장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kern="0" spc="-36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동일 품질로 서사 전달</a:t>
            </a:r>
            <a:endParaRPr lang="en-US" sz="1800" dirty="0"/>
          </a:p>
        </p:txBody>
      </p:sp>
      <p:sp>
        <p:nvSpPr>
          <p:cNvPr id="34" name="Text 24"/>
          <p:cNvSpPr txBox="1"/>
          <p:nvPr/>
        </p:nvSpPr>
        <p:spPr>
          <a:xfrm>
            <a:off x="9334195" y="6124651"/>
            <a:ext cx="3286354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KPI</a:t>
            </a:r>
            <a:endParaRPr lang="en-US" sz="825" dirty="0"/>
          </a:p>
        </p:txBody>
      </p:sp>
      <p:sp>
        <p:nvSpPr>
          <p:cNvPr id="35" name="Text 25"/>
          <p:cNvSpPr txBox="1"/>
          <p:nvPr/>
        </p:nvSpPr>
        <p:spPr>
          <a:xfrm>
            <a:off x="9334195" y="6286500"/>
            <a:ext cx="328635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매장별 주간 리뷰 +30%</a:t>
            </a:r>
            <a:endParaRPr lang="en-US" sz="1500" dirty="0"/>
          </a:p>
        </p:txBody>
      </p:sp>
      <p:sp>
        <p:nvSpPr>
          <p:cNvPr id="36" name="Text 26"/>
          <p:cNvSpPr txBox="1"/>
          <p:nvPr/>
        </p:nvSpPr>
        <p:spPr>
          <a:xfrm>
            <a:off x="13382244" y="3429000"/>
            <a:ext cx="3667658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" dirty="0">
                <a:solidFill>
                  <a:srgbClr val="EFE6DE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04 · 전략적 효과</a:t>
            </a:r>
            <a:endParaRPr lang="en-US" sz="900" dirty="0"/>
          </a:p>
        </p:txBody>
      </p:sp>
      <p:sp>
        <p:nvSpPr>
          <p:cNvPr id="37" name="Text 27"/>
          <p:cNvSpPr txBox="1"/>
          <p:nvPr/>
        </p:nvSpPr>
        <p:spPr>
          <a:xfrm>
            <a:off x="13382244" y="3600907"/>
            <a:ext cx="3667658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FE6DE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회사 차원에서 어떤 의미가 있나요?</a:t>
            </a:r>
            <a:endParaRPr lang="en-US" sz="900" dirty="0"/>
          </a:p>
        </p:txBody>
      </p:sp>
      <p:sp>
        <p:nvSpPr>
          <p:cNvPr id="38" name="Text 28"/>
          <p:cNvSpPr txBox="1"/>
          <p:nvPr/>
        </p:nvSpPr>
        <p:spPr>
          <a:xfrm>
            <a:off x="13382244" y="3952951"/>
            <a:ext cx="3667658" cy="724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700" b="1" kern="0" spc="-228" dirty="0">
                <a:solidFill>
                  <a:srgbClr val="EFE6DE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↑</a:t>
            </a:r>
            <a:endParaRPr lang="en-US" sz="5700" dirty="0"/>
          </a:p>
        </p:txBody>
      </p:sp>
      <p:sp>
        <p:nvSpPr>
          <p:cNvPr id="39" name="Text 29"/>
          <p:cNvSpPr txBox="1"/>
          <p:nvPr/>
        </p:nvSpPr>
        <p:spPr>
          <a:xfrm>
            <a:off x="13382244" y="4791456"/>
            <a:ext cx="3667658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kern="0" spc="-36" dirty="0">
                <a:solidFill>
                  <a:srgbClr val="FFFFF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효율형×경험형 사이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kern="0" spc="-36" dirty="0">
                <a:solidFill>
                  <a:srgbClr val="FFFFF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빈자리를 선점한다</a:t>
            </a:r>
            <a:endParaRPr lang="en-US" sz="1800" dirty="0"/>
          </a:p>
        </p:txBody>
      </p:sp>
      <p:sp>
        <p:nvSpPr>
          <p:cNvPr id="40" name="Text 30"/>
          <p:cNvSpPr txBox="1"/>
          <p:nvPr/>
        </p:nvSpPr>
        <p:spPr>
          <a:xfrm>
            <a:off x="13382244" y="6124651"/>
            <a:ext cx="3667658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EFE6DE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확장 방향</a:t>
            </a:r>
            <a:endParaRPr lang="en-US" sz="825" dirty="0"/>
          </a:p>
        </p:txBody>
      </p:sp>
      <p:sp>
        <p:nvSpPr>
          <p:cNvPr id="41" name="Text 31"/>
          <p:cNvSpPr txBox="1"/>
          <p:nvPr/>
        </p:nvSpPr>
        <p:spPr>
          <a:xfrm>
            <a:off x="13382244" y="6286500"/>
            <a:ext cx="3667658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직영 → 자문운영점 → 전 매장</a:t>
            </a:r>
            <a:endParaRPr lang="en-US" sz="1425" dirty="0"/>
          </a:p>
        </p:txBody>
      </p:sp>
      <p:sp>
        <p:nvSpPr>
          <p:cNvPr id="42" name="Text 32"/>
          <p:cNvSpPr txBox="1"/>
          <p:nvPr/>
        </p:nvSpPr>
        <p:spPr>
          <a:xfrm>
            <a:off x="952805" y="7763256"/>
            <a:ext cx="5715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0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현재 → 프로젝트 완료 후</a:t>
            </a:r>
            <a:endParaRPr lang="en-US" sz="975" dirty="0"/>
          </a:p>
        </p:txBody>
      </p:sp>
      <p:sp>
        <p:nvSpPr>
          <p:cNvPr id="43" name="Text 33"/>
          <p:cNvSpPr txBox="1"/>
          <p:nvPr/>
        </p:nvSpPr>
        <p:spPr>
          <a:xfrm>
            <a:off x="952805" y="8143646"/>
            <a:ext cx="7429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현재</a:t>
            </a:r>
            <a:endParaRPr lang="en-US" sz="900" dirty="0"/>
          </a:p>
        </p:txBody>
      </p:sp>
      <p:sp>
        <p:nvSpPr>
          <p:cNvPr id="44" name="Text 34"/>
          <p:cNvSpPr txBox="1"/>
          <p:nvPr/>
        </p:nvSpPr>
        <p:spPr>
          <a:xfrm>
            <a:off x="952805" y="8353044"/>
            <a:ext cx="74295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27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“매장 안 고객에게 히즈빈스는 그냥 ‘커피집’이다”</a:t>
            </a:r>
            <a:endParaRPr lang="en-US" sz="1800" dirty="0"/>
          </a:p>
        </p:txBody>
      </p:sp>
      <p:sp>
        <p:nvSpPr>
          <p:cNvPr id="45" name="Text 35"/>
          <p:cNvSpPr txBox="1"/>
          <p:nvPr/>
        </p:nvSpPr>
        <p:spPr>
          <a:xfrm>
            <a:off x="8715146" y="8191195"/>
            <a:ext cx="857707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900" dirty="0">
                <a:solidFill>
                  <a:srgbClr val="4A2F1F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→</a:t>
            </a:r>
            <a:endParaRPr lang="en-US" sz="3900" dirty="0"/>
          </a:p>
        </p:txBody>
      </p:sp>
      <p:sp>
        <p:nvSpPr>
          <p:cNvPr id="46" name="Text 36"/>
          <p:cNvSpPr txBox="1"/>
          <p:nvPr/>
        </p:nvSpPr>
        <p:spPr>
          <a:xfrm>
            <a:off x="9905695" y="8143646"/>
            <a:ext cx="7429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프로젝트 완료 후</a:t>
            </a:r>
            <a:endParaRPr lang="en-US" sz="900" dirty="0"/>
          </a:p>
        </p:txBody>
      </p:sp>
      <p:sp>
        <p:nvSpPr>
          <p:cNvPr id="47" name="Text 37"/>
          <p:cNvSpPr txBox="1"/>
          <p:nvPr/>
        </p:nvSpPr>
        <p:spPr>
          <a:xfrm>
            <a:off x="9905695" y="8353044"/>
            <a:ext cx="74295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27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“고객이 서사를 알고, 리뷰와 재방문으로 응답한다”</a:t>
            </a:r>
            <a:endParaRPr lang="en-US" sz="1800" dirty="0"/>
          </a:p>
        </p:txBody>
      </p:sp>
      <p:sp>
        <p:nvSpPr>
          <p:cNvPr id="48" name="Text 38"/>
          <p:cNvSpPr txBox="1"/>
          <p:nvPr/>
        </p:nvSpPr>
        <p:spPr>
          <a:xfrm>
            <a:off x="952805" y="9286646"/>
            <a:ext cx="16383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핵심 주장 │ </a:t>
            </a:r>
            <a:r>
              <a:rPr lang="en-US" sz="900" b="1" kern="0" spc="9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임팩트는 이미 충분합니다. 부족한 것은 전달률 — 개발 규모 대비 기대 효과가 크고, 실패해도 손실이 작습니다.</a:t>
            </a:r>
            <a:endParaRPr lang="en-US" sz="900" dirty="0"/>
          </a:p>
        </p:txBody>
      </p:sp>
      <p:sp>
        <p:nvSpPr>
          <p:cNvPr id="49" name="Text 39"/>
          <p:cNvSpPr txBox="1"/>
          <p:nvPr/>
        </p:nvSpPr>
        <p:spPr>
          <a:xfrm>
            <a:off x="952805" y="9982505"/>
            <a:ext cx="857250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HISBEANS / 매장 미니앱 기획서</a:t>
            </a:r>
            <a:endParaRPr lang="en-US" sz="825" dirty="0"/>
          </a:p>
        </p:txBody>
      </p:sp>
      <p:sp>
        <p:nvSpPr>
          <p:cNvPr id="50" name="Text 40"/>
          <p:cNvSpPr txBox="1"/>
          <p:nvPr/>
        </p:nvSpPr>
        <p:spPr>
          <a:xfrm>
            <a:off x="15430500" y="9982505"/>
            <a:ext cx="190561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825" kern="0" spc="83" dirty="0">
                <a:solidFill>
                  <a:srgbClr val="8A8A8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07 / 08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aa563f3761172d4adc298f0c43b88f6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2805" y="761695"/>
            <a:ext cx="16383305" cy="9144"/>
          </a:xfrm>
          <a:prstGeom prst="rect">
            <a:avLst/>
          </a:prstGeom>
        </p:spPr>
      </p:pic>
      <p:pic>
        <p:nvPicPr>
          <p:cNvPr id="3" name="Image 1" descr="gen-dedup-0027c3c5f3cae63b5ca1e3146ac43493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952805" y="2809951"/>
            <a:ext cx="761695" cy="19202"/>
          </a:xfrm>
          <a:prstGeom prst="rect">
            <a:avLst/>
          </a:prstGeom>
        </p:spPr>
      </p:pic>
      <p:pic>
        <p:nvPicPr>
          <p:cNvPr id="4" name="Image 2" descr="gen-dedup-976b55182a9bfd6dce5a587592c56c72.png"/>
          <p:cNvPicPr>
            <a:picLocks noChangeAspect="1"/>
          </p:cNvPicPr>
          <p:nvPr/>
        </p:nvPicPr>
        <p:blipFill>
          <a:blip r:embed="rId5"/>
          <a:srcRect t="-2083" b="-2083"/>
          <a:stretch/>
        </p:blipFill>
        <p:spPr>
          <a:xfrm>
            <a:off x="10287000" y="3191256"/>
            <a:ext cx="9144" cy="5048402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952805" y="8524951"/>
            <a:ext cx="16383305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3" descr="gen-dedup-eeecb3c97d9aa2aa7f539c152c58f331.png"/>
          <p:cNvPicPr>
            <a:picLocks noChangeAspect="1"/>
          </p:cNvPicPr>
          <p:nvPr/>
        </p:nvPicPr>
        <p:blipFill>
          <a:blip r:embed="rId6"/>
          <a:srcRect t="-2116" b="-2116"/>
          <a:stretch/>
        </p:blipFill>
        <p:spPr>
          <a:xfrm>
            <a:off x="3429000" y="8734349"/>
            <a:ext cx="9144" cy="495605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14668805" y="8715146"/>
            <a:ext cx="2381098" cy="533095"/>
          </a:xfrm>
          <a:prstGeom prst="rect">
            <a:avLst/>
          </a:prstGeom>
          <a:solidFill>
            <a:srgbClr val="4A2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2"/>
          <p:cNvSpPr txBox="1"/>
          <p:nvPr/>
        </p:nvSpPr>
        <p:spPr>
          <a:xfrm>
            <a:off x="952805" y="952805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08 / 주요 리스크 및 다음 실행</a:t>
            </a:r>
            <a:endParaRPr lang="en-US" sz="1200" dirty="0"/>
          </a:p>
        </p:txBody>
      </p:sp>
      <p:sp>
        <p:nvSpPr>
          <p:cNvPr id="9" name="Text 3"/>
          <p:cNvSpPr txBox="1"/>
          <p:nvPr/>
        </p:nvSpPr>
        <p:spPr>
          <a:xfrm>
            <a:off x="952805" y="1181405"/>
            <a:ext cx="85725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kern="0" spc="135" dirty="0">
                <a:solidFill>
                  <a:srgbClr val="C9C4BD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KEY RISKS &amp; NEXT ACTION</a:t>
            </a:r>
            <a:endParaRPr lang="en-US" sz="800" dirty="0"/>
          </a:p>
        </p:txBody>
      </p:sp>
      <p:sp>
        <p:nvSpPr>
          <p:cNvPr id="10" name="Text 4"/>
          <p:cNvSpPr txBox="1"/>
          <p:nvPr/>
        </p:nvSpPr>
        <p:spPr>
          <a:xfrm>
            <a:off x="13525805" y="952805"/>
            <a:ext cx="3810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98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HISBEANS · STORE MINI APP PLAN</a:t>
            </a:r>
            <a:endParaRPr lang="en-US" sz="900" dirty="0"/>
          </a:p>
        </p:txBody>
      </p:sp>
      <p:sp>
        <p:nvSpPr>
          <p:cNvPr id="11" name="Text 5"/>
          <p:cNvSpPr txBox="1"/>
          <p:nvPr/>
        </p:nvSpPr>
        <p:spPr>
          <a:xfrm>
            <a:off x="952805" y="1714500"/>
            <a:ext cx="16383305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Top 3 리스크를 관리하고 </a:t>
            </a:r>
            <a:r>
              <a:rPr lang="en-US" sz="3000" b="1" kern="0" spc="-75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첫 4주 실행</a:t>
            </a:r>
            <a:r>
              <a:rPr lang="en-US" sz="3000" b="1" kern="0" spc="-75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을 확정합니다.</a:t>
            </a:r>
            <a:endParaRPr lang="en-US" sz="3000" dirty="0"/>
          </a:p>
        </p:txBody>
      </p:sp>
      <p:sp>
        <p:nvSpPr>
          <p:cNvPr id="12" name="Text 6"/>
          <p:cNvSpPr txBox="1"/>
          <p:nvPr/>
        </p:nvSpPr>
        <p:spPr>
          <a:xfrm>
            <a:off x="952805" y="3191256"/>
            <a:ext cx="885870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0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주요 리스크 </a:t>
            </a:r>
            <a:r>
              <a:rPr lang="en-US" sz="975" b="1" kern="0" spc="20" dirty="0">
                <a:solidFill>
                  <a:srgbClr val="8A8A8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(Top 3)</a:t>
            </a:r>
            <a:endParaRPr lang="en-US" sz="975" dirty="0"/>
          </a:p>
        </p:txBody>
      </p:sp>
      <p:sp>
        <p:nvSpPr>
          <p:cNvPr id="13" name="Text 7"/>
          <p:cNvSpPr txBox="1"/>
          <p:nvPr/>
        </p:nvSpPr>
        <p:spPr>
          <a:xfrm>
            <a:off x="952805" y="3362249"/>
            <a:ext cx="885870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8A8A8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이 프로젝트가 실패할 수 있는 가장 큰 이유는 무엇인가요?</a:t>
            </a:r>
            <a:endParaRPr lang="en-US" sz="975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3762756"/>
          <a:ext cx="8858708" cy="2532585"/>
        </p:xfrm>
        <a:graphic>
          <a:graphicData uri="http://schemas.openxmlformats.org/drawingml/2006/table">
            <a:tbl>
              <a:tblPr/>
              <a:tblGrid>
                <a:gridCol w="3012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9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2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4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5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8A8A8A"/>
                          </a:solidFill>
                          <a:latin typeface="Pretendard Variable Black" pitchFamily="34" charset="0"/>
                          <a:ea typeface="Pretendard Variable Black" pitchFamily="34" charset="-122"/>
                          <a:cs typeface="Pretendard Variable Black" pitchFamily="34" charset="-120"/>
                        </a:rPr>
                        <a:t>주요 리스크</a:t>
                      </a:r>
                      <a:endParaRPr lang="en-US" sz="825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95098" marB="75895" anchor="ctr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8A8A8A"/>
                          </a:solidFill>
                          <a:latin typeface="Pretendard Variable Black" pitchFamily="34" charset="0"/>
                          <a:ea typeface="Pretendard Variable Black" pitchFamily="34" charset="-122"/>
                          <a:cs typeface="Pretendard Variable Black" pitchFamily="34" charset="-120"/>
                        </a:rPr>
                        <a:t>영향도</a:t>
                      </a:r>
                      <a:endParaRPr lang="en-US" sz="825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95098" marB="75895" anchor="ctr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8A8A8A"/>
                          </a:solidFill>
                          <a:latin typeface="Pretendard Variable Black" pitchFamily="34" charset="0"/>
                          <a:ea typeface="Pretendard Variable Black" pitchFamily="34" charset="-122"/>
                          <a:cs typeface="Pretendard Variable Black" pitchFamily="34" charset="-120"/>
                        </a:rPr>
                        <a:t>대응방안</a:t>
                      </a:r>
                      <a:endParaRPr lang="en-US" sz="825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95098" marB="75895" anchor="ctr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8A8A8A"/>
                          </a:solidFill>
                          <a:latin typeface="Pretendard Variable Black" pitchFamily="34" charset="0"/>
                          <a:ea typeface="Pretendard Variable Black" pitchFamily="34" charset="-122"/>
                          <a:cs typeface="Pretendard Variable Black" pitchFamily="34" charset="-120"/>
                        </a:rPr>
                        <a:t>책임자</a:t>
                      </a:r>
                      <a:endParaRPr lang="en-US" sz="825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95098" marB="75895" anchor="ctr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5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8" b="1" dirty="0">
                          <a:solidFill>
                            <a:srgbClr val="4A2F1F"/>
                          </a:solidFill>
                          <a:latin typeface="Pretendard Variable Black" pitchFamily="34" charset="0"/>
                          <a:ea typeface="Pretendard Variable Black" pitchFamily="34" charset="-122"/>
                          <a:cs typeface="Pretendard Variable Black" pitchFamily="34" charset="-120"/>
                        </a:rPr>
                        <a:t>01 </a:t>
                      </a:r>
                      <a:r>
                        <a:rPr lang="en-US" sz="1088" b="1" dirty="0">
                          <a:solidFill>
                            <a:srgbClr val="1A1A1A"/>
                          </a:solidFill>
                          <a:latin typeface="Pretendard Variable Black" pitchFamily="34" charset="0"/>
                          <a:ea typeface="Pretendard Variable Black" pitchFamily="34" charset="-122"/>
                          <a:cs typeface="Pretendard Variable Black" pitchFamily="34" charset="-120"/>
                        </a:rPr>
                        <a:t>고객이 QR을 찍을 이유가 없다</a:t>
                      </a:r>
                      <a:endParaRPr lang="en-US" sz="1200" dirty="0"/>
                    </a:p>
                  </a:txBody>
                  <a:tcPr marL="133502" marR="133502" marT="152705" marB="152705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8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높음</a:t>
                      </a:r>
                      <a:endParaRPr lang="en-US" sz="1088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52705" marB="152705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8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보상을 입구로 배치, 지표 A로 즉시 판정</a:t>
                      </a:r>
                      <a:endParaRPr lang="en-US" sz="1088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52705" marB="152705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8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기획 (PM)</a:t>
                      </a:r>
                      <a:endParaRPr lang="en-US" sz="1088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52705" marB="152705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5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8" b="1" dirty="0">
                          <a:solidFill>
                            <a:srgbClr val="4A2F1F"/>
                          </a:solidFill>
                          <a:latin typeface="Pretendard Variable Black" pitchFamily="34" charset="0"/>
                          <a:ea typeface="Pretendard Variable Black" pitchFamily="34" charset="-122"/>
                          <a:cs typeface="Pretendard Variable Black" pitchFamily="34" charset="-120"/>
                        </a:rPr>
                        <a:t>02 </a:t>
                      </a:r>
                      <a:r>
                        <a:rPr lang="en-US" sz="1088" b="1" dirty="0">
                          <a:solidFill>
                            <a:srgbClr val="1A1A1A"/>
                          </a:solidFill>
                          <a:latin typeface="Pretendard Variable Black" pitchFamily="34" charset="0"/>
                          <a:ea typeface="Pretendard Variable Black" pitchFamily="34" charset="-122"/>
                          <a:cs typeface="Pretendard Variable Black" pitchFamily="34" charset="-120"/>
                        </a:rPr>
                        <a:t>바리스타 서사 활용의 적절성</a:t>
                      </a:r>
                      <a:endParaRPr lang="en-US" sz="1200" dirty="0"/>
                    </a:p>
                  </a:txBody>
                  <a:tcPr marL="133502" marR="133502" marT="152705" marB="152705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8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높음</a:t>
                      </a:r>
                      <a:endParaRPr lang="en-US" sz="1088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52705" marB="152705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8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동정이 아닌 전문성 서사 + 당사자 동의 절차</a:t>
                      </a:r>
                      <a:endParaRPr lang="en-US" sz="1088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52705" marB="152705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8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브랜드·콘텐츠</a:t>
                      </a:r>
                      <a:endParaRPr lang="en-US" sz="1088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52705" marB="152705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5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8" b="1" dirty="0">
                          <a:solidFill>
                            <a:srgbClr val="4A2F1F"/>
                          </a:solidFill>
                          <a:latin typeface="Pretendard Variable Black" pitchFamily="34" charset="0"/>
                          <a:ea typeface="Pretendard Variable Black" pitchFamily="34" charset="-122"/>
                          <a:cs typeface="Pretendard Variable Black" pitchFamily="34" charset="-120"/>
                        </a:rPr>
                        <a:t>03 </a:t>
                      </a:r>
                      <a:r>
                        <a:rPr lang="en-US" sz="1088" b="1" dirty="0">
                          <a:solidFill>
                            <a:srgbClr val="1A1A1A"/>
                          </a:solidFill>
                          <a:latin typeface="Pretendard Variable Black" pitchFamily="34" charset="0"/>
                          <a:ea typeface="Pretendard Variable Black" pitchFamily="34" charset="-122"/>
                          <a:cs typeface="Pretendard Variable Black" pitchFamily="34" charset="-120"/>
                        </a:rPr>
                        <a:t>개발·운영 리소스 경합</a:t>
                      </a:r>
                      <a:endParaRPr lang="en-US" sz="1200" dirty="0"/>
                    </a:p>
                  </a:txBody>
                  <a:tcPr marL="133502" marR="133502" marT="152705" marB="152705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8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보통</a:t>
                      </a:r>
                      <a:endParaRPr lang="en-US" sz="1088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52705" marB="152705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8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직영 2개점·4주로 범위 제한, 이태원 신규 매장과 우선순위 조율</a:t>
                      </a:r>
                      <a:endParaRPr lang="en-US" sz="1088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52705" marB="152705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8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기획 (PM)</a:t>
                      </a:r>
                      <a:endParaRPr lang="en-US" sz="1088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33502" marR="133502" marT="152705" marB="152705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 8"/>
          <p:cNvSpPr txBox="1"/>
          <p:nvPr/>
        </p:nvSpPr>
        <p:spPr>
          <a:xfrm>
            <a:off x="10668305" y="3191256"/>
            <a:ext cx="6667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0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향후 4주 실행계획</a:t>
            </a:r>
            <a:endParaRPr lang="en-US" sz="975" dirty="0"/>
          </a:p>
        </p:txBody>
      </p:sp>
      <p:sp>
        <p:nvSpPr>
          <p:cNvPr id="16" name="Text 9"/>
          <p:cNvSpPr txBox="1"/>
          <p:nvPr/>
        </p:nvSpPr>
        <p:spPr>
          <a:xfrm>
            <a:off x="10668305" y="3362249"/>
            <a:ext cx="6667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8A8A8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이번 주부터 4주 동안 무엇을 완료하나요?</a:t>
            </a:r>
            <a:endParaRPr lang="en-US" sz="975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68305" y="3762756"/>
          <a:ext cx="6667805" cy="2200960"/>
        </p:xfrm>
        <a:graphic>
          <a:graphicData uri="http://schemas.openxmlformats.org/drawingml/2006/table">
            <a:tbl>
              <a:tblPr/>
              <a:tblGrid>
                <a:gridCol w="1000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69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0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8A8A8A"/>
                          </a:solidFill>
                          <a:latin typeface="Pretendard Variable Black" pitchFamily="34" charset="0"/>
                          <a:ea typeface="Pretendard Variable Black" pitchFamily="34" charset="-122"/>
                          <a:cs typeface="Pretendard Variable Black" pitchFamily="34" charset="-120"/>
                        </a:rPr>
                        <a:t>주차</a:t>
                      </a:r>
                      <a:endParaRPr lang="en-US" sz="825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14300" marR="114300" marT="95098" marB="75895" anchor="ctr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8A8A8A"/>
                          </a:solidFill>
                          <a:latin typeface="Pretendard Variable Black" pitchFamily="34" charset="0"/>
                          <a:ea typeface="Pretendard Variable Black" pitchFamily="34" charset="-122"/>
                          <a:cs typeface="Pretendard Variable Black" pitchFamily="34" charset="-120"/>
                        </a:rPr>
                        <a:t>핵심 할 일</a:t>
                      </a:r>
                      <a:endParaRPr lang="en-US" sz="825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14300" marR="114300" marT="95098" marB="75895" anchor="ctr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8A8A8A"/>
                          </a:solidFill>
                          <a:latin typeface="Pretendard Variable Black" pitchFamily="34" charset="0"/>
                          <a:ea typeface="Pretendard Variable Black" pitchFamily="34" charset="-122"/>
                          <a:cs typeface="Pretendard Variable Black" pitchFamily="34" charset="-120"/>
                        </a:rPr>
                        <a:t>책임자</a:t>
                      </a:r>
                      <a:endParaRPr lang="en-US" sz="825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14300" marR="114300" marT="95098" marB="75895" anchor="ctr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8A8A8A"/>
                          </a:solidFill>
                          <a:latin typeface="Pretendard Variable Black" pitchFamily="34" charset="0"/>
                          <a:ea typeface="Pretendard Variable Black" pitchFamily="34" charset="-122"/>
                          <a:cs typeface="Pretendard Variable Black" pitchFamily="34" charset="-120"/>
                        </a:rPr>
                        <a:t>완료 결과</a:t>
                      </a:r>
                      <a:endParaRPr lang="en-US" sz="825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14300" marR="114300" marT="95098" marB="75895" anchor="ctr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A2F1F"/>
                          </a:solidFill>
                          <a:latin typeface="Pretendard Variable Black" pitchFamily="34" charset="0"/>
                          <a:ea typeface="Pretendard Variable Black" pitchFamily="34" charset="-122"/>
                          <a:cs typeface="Pretendard Variable Black" pitchFamily="34" charset="-120"/>
                        </a:rPr>
                        <a:t>1주차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14300" marR="114300" marT="133502" marB="133502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목적 재정의 합의 · 매니저 사전 안내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14300" marR="114300" marT="133502" marB="133502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기획 (PM)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14300" marR="114300" marT="133502" marB="133502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합의안·플로우 확정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14300" marR="114300" marT="133502" marB="133502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A2F1F"/>
                          </a:solidFill>
                          <a:latin typeface="Pretendard Variable Black" pitchFamily="34" charset="0"/>
                          <a:ea typeface="Pretendard Variable Black" pitchFamily="34" charset="-122"/>
                          <a:cs typeface="Pretendard Variable Black" pitchFamily="34" charset="-120"/>
                        </a:rPr>
                        <a:t>2주차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14300" marR="114300" marT="133502" marB="133502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바리스타 인터뷰·동의, MVP 개발 착수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14300" marR="114300" marT="133502" marB="133502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브랜드·콘텐츠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14300" marR="114300" marT="133502" marB="133502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서사 원고 초안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14300" marR="114300" marT="133502" marB="133502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A2F1F"/>
                          </a:solidFill>
                          <a:latin typeface="Pretendard Variable Black" pitchFamily="34" charset="0"/>
                          <a:ea typeface="Pretendard Variable Black" pitchFamily="34" charset="-122"/>
                          <a:cs typeface="Pretendard Variable Black" pitchFamily="34" charset="-120"/>
                        </a:rPr>
                        <a:t>3주차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14300" marR="114300" marT="133502" marB="133502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MVP 구현 · 쿠폰 정산 기준 확정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14300" marR="114300" marT="133502" marB="133502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개발 (웹)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14300" marR="114300" marT="133502" marB="133502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미니앱 v1 QA 완료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14300" marR="114300" marT="133502" marB="133502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A2F1F"/>
                          </a:solidFill>
                          <a:latin typeface="Pretendard Variable Black" pitchFamily="34" charset="0"/>
                          <a:ea typeface="Pretendard Variable Black" pitchFamily="34" charset="-122"/>
                          <a:cs typeface="Pretendard Variable Black" pitchFamily="34" charset="-120"/>
                        </a:rPr>
                        <a:t>4주차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14300" marR="114300" marT="133502" marB="133502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QR/NFC 설치 · 파일럿 개시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14300" marR="114300" marT="133502" marB="133502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직영 매장운영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14300" marR="114300" marT="133502" marB="133502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Pretendard Variable Medium" pitchFamily="34" charset="0"/>
                          <a:ea typeface="Pretendard Variable Medium" pitchFamily="34" charset="-122"/>
                          <a:cs typeface="Pretendard Variable Medium" pitchFamily="34" charset="-120"/>
                        </a:rPr>
                        <a:t>2개점 운영 시작</a:t>
                      </a:r>
                      <a:endParaRPr lang="en-US" sz="1050" dirty="0">
                        <a:latin typeface="Pretendard Variable Medium" charset="0"/>
                        <a:ea typeface="Pretendard Variable Medium" charset="0"/>
                        <a:cs typeface="Pretendard Variable Medium" charset="0"/>
                      </a:endParaRPr>
                    </a:p>
                  </a:txBody>
                  <a:tcPr marL="114300" marR="114300" marT="133502" marB="133502">
                    <a:lnL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0"/>
          <p:cNvSpPr txBox="1"/>
          <p:nvPr/>
        </p:nvSpPr>
        <p:spPr>
          <a:xfrm>
            <a:off x="1257300" y="8695944"/>
            <a:ext cx="20958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dirty="0">
                <a:solidFill>
                  <a:srgbClr val="7A4E30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◆</a:t>
            </a:r>
            <a:endParaRPr lang="en-US" sz="3300" dirty="0"/>
          </a:p>
        </p:txBody>
      </p:sp>
      <p:sp>
        <p:nvSpPr>
          <p:cNvPr id="19" name="Text 11"/>
          <p:cNvSpPr txBox="1"/>
          <p:nvPr/>
        </p:nvSpPr>
        <p:spPr>
          <a:xfrm>
            <a:off x="1257300" y="9153144"/>
            <a:ext cx="2095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" dirty="0">
                <a:solidFill>
                  <a:srgbClr val="7A4E30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다음 주요 의사결정</a:t>
            </a:r>
            <a:endParaRPr lang="en-US" sz="900" dirty="0"/>
          </a:p>
        </p:txBody>
      </p:sp>
      <p:sp>
        <p:nvSpPr>
          <p:cNvPr id="20" name="Text 12"/>
          <p:cNvSpPr txBox="1"/>
          <p:nvPr/>
        </p:nvSpPr>
        <p:spPr>
          <a:xfrm>
            <a:off x="3715207" y="8715146"/>
            <a:ext cx="8572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0" dirty="0">
                <a:solidFill>
                  <a:srgbClr val="EFE6DE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1개월차 W1 · 이번 주</a:t>
            </a:r>
            <a:endParaRPr lang="en-US" sz="975" dirty="0"/>
          </a:p>
        </p:txBody>
      </p:sp>
      <p:sp>
        <p:nvSpPr>
          <p:cNvPr id="21" name="Text 13"/>
          <p:cNvSpPr txBox="1"/>
          <p:nvPr/>
        </p:nvSpPr>
        <p:spPr>
          <a:xfrm>
            <a:off x="3715207" y="8915400"/>
            <a:ext cx="8572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-25" dirty="0">
                <a:solidFill>
                  <a:srgbClr val="FFFFF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“미니앱의 목적을 ‘공간 소개’에서 ‘서사 전달 + 행동 전환’으로 재정의하는가?”</a:t>
            </a:r>
            <a:endParaRPr lang="en-US" sz="1650" dirty="0"/>
          </a:p>
        </p:txBody>
      </p:sp>
      <p:sp>
        <p:nvSpPr>
          <p:cNvPr id="22" name="Text 14"/>
          <p:cNvSpPr txBox="1"/>
          <p:nvPr/>
        </p:nvSpPr>
        <p:spPr>
          <a:xfrm>
            <a:off x="14668805" y="8848649"/>
            <a:ext cx="2382012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25" b="1" kern="0" spc="17" dirty="0">
                <a:solidFill>
                  <a:srgbClr val="EFE6DE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필요 조치</a:t>
            </a:r>
            <a:endParaRPr lang="en-US" sz="825" dirty="0"/>
          </a:p>
        </p:txBody>
      </p:sp>
      <p:sp>
        <p:nvSpPr>
          <p:cNvPr id="23" name="Text 15"/>
          <p:cNvSpPr txBox="1"/>
          <p:nvPr/>
        </p:nvSpPr>
        <p:spPr>
          <a:xfrm>
            <a:off x="14668805" y="9010498"/>
            <a:ext cx="238201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5" b="1" kern="0" spc="10" dirty="0">
                <a:solidFill>
                  <a:srgbClr val="FFFFF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리더십 승인</a:t>
            </a:r>
            <a:endParaRPr lang="en-US" sz="975" dirty="0"/>
          </a:p>
        </p:txBody>
      </p:sp>
      <p:sp>
        <p:nvSpPr>
          <p:cNvPr id="24" name="Text 16"/>
          <p:cNvSpPr txBox="1"/>
          <p:nvPr/>
        </p:nvSpPr>
        <p:spPr>
          <a:xfrm>
            <a:off x="952805" y="9525305"/>
            <a:ext cx="16383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미해결 과제 │ </a:t>
            </a:r>
            <a:r>
              <a:rPr lang="en-US" sz="900" b="1" kern="0" spc="9" dirty="0">
                <a:solidFill>
                  <a:srgbClr val="1A1A1A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혜택 원가 부담 주체 · 자문운영점 데이터 열람 범위 · 매장별 콘텐츠 갱신 주체 결정이 필요합니다.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952805" y="9982505"/>
            <a:ext cx="857250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82" dirty="0">
                <a:solidFill>
                  <a:srgbClr val="4A2F1F"/>
                </a:solidFill>
                <a:latin typeface="Pretendard Variable Black" pitchFamily="34" charset="0"/>
                <a:ea typeface="Pretendard Variable Black" pitchFamily="34" charset="-122"/>
                <a:cs typeface="Pretendard Variable Black" pitchFamily="34" charset="-120"/>
              </a:rPr>
              <a:t>HISBEANS / 매장 미니앱 기획서</a:t>
            </a:r>
            <a:endParaRPr lang="en-US" sz="825" dirty="0"/>
          </a:p>
        </p:txBody>
      </p:sp>
      <p:sp>
        <p:nvSpPr>
          <p:cNvPr id="26" name="Text 18"/>
          <p:cNvSpPr txBox="1"/>
          <p:nvPr/>
        </p:nvSpPr>
        <p:spPr>
          <a:xfrm>
            <a:off x="15430500" y="9982505"/>
            <a:ext cx="190561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825" kern="0" spc="83" dirty="0">
                <a:solidFill>
                  <a:srgbClr val="8A8A8A"/>
                </a:solidFill>
                <a:latin typeface="Pretendard Variable Medium" pitchFamily="34" charset="0"/>
                <a:ea typeface="Pretendard Variable Medium" pitchFamily="34" charset="-122"/>
                <a:cs typeface="Pretendard Variable Medium" pitchFamily="34" charset="-120"/>
              </a:rPr>
              <a:t>08 / 08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3302</TotalTime>
  <Words>1683</Words>
  <Application>Microsoft Macintosh PowerPoint</Application>
  <PresentationFormat>사용자 지정</PresentationFormat>
  <Paragraphs>399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Pretendard Variable Black</vt:lpstr>
      <vt:lpstr>Pretendard Variable Medium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히즈빈스 매장 미니앱 기획서</dc:title>
  <dc:subject>PptxGenJS Presentation</dc:subject>
  <dc:creator>Visual Extract to PPTX Converter</dc:creator>
  <cp:lastModifiedBy>나은학</cp:lastModifiedBy>
  <cp:revision>3</cp:revision>
  <dcterms:created xsi:type="dcterms:W3CDTF">2026-08-23T15:35:42Z</dcterms:created>
  <dcterms:modified xsi:type="dcterms:W3CDTF">2026-09-16T07:13:52Z</dcterms:modified>
</cp:coreProperties>
</file>